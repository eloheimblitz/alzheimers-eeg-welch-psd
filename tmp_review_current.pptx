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5" r:id="rId4"/>
    <p:sldId id="258" r:id="rId5"/>
    <p:sldId id="259" r:id="rId6"/>
    <p:sldId id="260" r:id="rId7"/>
    <p:sldId id="262" r:id="rId8"/>
    <p:sldId id="261" r:id="rId9"/>
    <p:sldId id="263" r:id="rId10"/>
    <p:sldId id="264" r:id="rId11"/>
    <p:sldId id="266" r:id="rId12"/>
    <p:sldId id="265" r:id="rId13"/>
    <p:sldId id="267" r:id="rId14"/>
    <p:sldId id="268" r:id="rId15"/>
    <p:sldId id="269" r:id="rId16"/>
    <p:sldId id="276" r:id="rId17"/>
    <p:sldId id="274" r:id="rId18"/>
    <p:sldId id="270" r:id="rId19"/>
    <p:sldId id="271" r:id="rId20"/>
    <p:sldId id="2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1E35"/>
    <a:srgbClr val="00CC00"/>
    <a:srgbClr val="1B3055"/>
    <a:srgbClr val="003300"/>
    <a:srgbClr val="007BB8"/>
    <a:srgbClr val="388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2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2026%20MTECH%20Project\alz_project\results\figures\figure_numeric_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/>
                </a:solidFill>
                <a:latin typeface="Aptos Display" panose="020B0004020202020204" pitchFamily="34" charset="0"/>
                <a:ea typeface="+mn-ea"/>
                <a:cs typeface="+mn-cs"/>
              </a:defRPr>
            </a:pPr>
            <a:r>
              <a:rPr lang="en-US" sz="1800" b="1">
                <a:solidFill>
                  <a:schemeClr val="tx1"/>
                </a:solidFill>
                <a:latin typeface="Aptos Display" panose="020B0004020202020204" pitchFamily="34" charset="0"/>
              </a:rPr>
              <a:t>Class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/>
              </a:solidFill>
              <a:latin typeface="Aptos Display" panose="020B0004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'02_class_distribution'!$B$1</c:f>
              <c:strCache>
                <c:ptCount val="1"/>
                <c:pt idx="0">
                  <c:v>subject_count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8F1-4B4D-9B00-E89C16835DE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8F1-4B4D-9B00-E89C16835DE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8F1-4B4D-9B00-E89C16835DE2}"/>
              </c:ext>
            </c:extLst>
          </c:dPt>
          <c:dLbls>
            <c:dLbl>
              <c:idx val="0"/>
              <c:layout>
                <c:manualLayout>
                  <c:x val="0.15555555555555556"/>
                  <c:y val="5.5555555555555552E-2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8F1-4B4D-9B00-E89C16835DE2}"/>
                </c:ext>
              </c:extLst>
            </c:dLbl>
            <c:dLbl>
              <c:idx val="1"/>
              <c:layout>
                <c:manualLayout>
                  <c:x val="-0.24166666666666667"/>
                  <c:y val="-8.4875562720133283E-17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8F1-4B4D-9B00-E89C16835DE2}"/>
                </c:ext>
              </c:extLst>
            </c:dLbl>
            <c:dLbl>
              <c:idx val="2"/>
              <c:layout>
                <c:manualLayout>
                  <c:x val="-0.21388888888888888"/>
                  <c:y val="0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8F1-4B4D-9B00-E89C16835DE2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Aptos Display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'02_class_distribution'!$A$2:$A$4</c:f>
              <c:strCache>
                <c:ptCount val="3"/>
                <c:pt idx="0">
                  <c:v>AD</c:v>
                </c:pt>
                <c:pt idx="1">
                  <c:v>CN</c:v>
                </c:pt>
                <c:pt idx="2">
                  <c:v>FTD</c:v>
                </c:pt>
              </c:strCache>
            </c:strRef>
          </c:cat>
          <c:val>
            <c:numRef>
              <c:f>'02_class_distribution'!$B$2:$B$4</c:f>
              <c:numCache>
                <c:formatCode>General</c:formatCode>
                <c:ptCount val="3"/>
                <c:pt idx="0">
                  <c:v>36</c:v>
                </c:pt>
                <c:pt idx="1">
                  <c:v>29</c:v>
                </c:pt>
                <c:pt idx="2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8F1-4B4D-9B00-E89C16835D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Aptos Display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FF913F-F8C0-419A-98D0-EEDA8748CDBA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984583-3B2B-401C-9B69-FE75DC467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305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550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EA178-9569-7D63-6460-78DABB7C6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0C24B7-E0E2-828D-A14A-30FF42A3A6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E30BF6-C424-6A42-ABD5-3D1150AC1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E2FCF-8F7B-FD41-3C09-58652AE562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014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CD802-CBB8-8EE3-039A-C00BA4588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F6A6FB-62F3-DDD7-E973-D409580B9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13BFBB-C6C2-1C75-6839-602A5BE9C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7A886-2A13-DE73-3DE7-89391086B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600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4D7C0-C5F3-2ECD-A54B-50AEA9598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62ACE5-F9D6-F24D-4D9A-652DF353B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2C60B2-F7A3-EF53-E456-161FDF265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2AB83-F2E8-B488-46DF-92E8C33E46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382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A7B7-163B-7DB6-CE82-64F7EE49C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BAF11E-1CDE-646E-D945-170537796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92C136-D93A-CBD6-2A2B-A7EAA8457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6D953-4F57-7607-891E-079C94A325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874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05B4C-8158-A7C1-4970-01CAF3D7A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BE9050-1836-0537-0E7D-46A9FD7F3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EBD049-ADCA-B157-6FD3-D2142493F2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8F868-9A2F-ECCA-46EA-A38C865142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887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7CB85-58C3-1125-D0F6-AA2632C0E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55B702-A4CF-7AC7-22AA-43004BC20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83A44B-9334-C0EF-827E-FD0EA0C1E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CE2DB-A94B-C61C-3C78-821DABA71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0424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9D5C4-0164-DC8D-B1DB-4EA0AE82A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3946C-E351-1026-AC5E-604B6F4F0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DBB654-675F-70B8-1FC1-D135576D0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75C82-4E32-73C4-FE78-15A3B834E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932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128D0-015A-5E0F-7D25-DE96D938D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74524D-3B4E-7F55-A113-A942DE3F6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34629E-D5B1-8FCE-8FD4-47A259CCA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B7E8E-41EE-29E2-835A-50F6739DE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812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48095-AF2E-EC58-3377-637C1E68F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4ABD4D-CC19-8067-10DD-EFF8C67F0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8F2924-778B-3867-8ADD-39DED8EFD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99C11-91BE-5BD7-5A15-049B8EABFB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6691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F1EAC-B406-1688-3DF2-832F3B0F1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D3849-8035-BC13-F909-E2BCC1685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1447C0-79D1-BC84-0997-80EA7761F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CAC41-D1B0-BCF0-6527-A5159492D1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3474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445DB-316B-E151-0FD3-247BE42F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45EB7-58AA-1A7D-35CA-8E5597B18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58146-93B3-B470-3FDC-3E5864DF2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E1A05-C7E8-6EFA-02C2-6DE2A1CD0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9641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78EFD-1557-7890-29D6-6B688CA9F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848F59-5B67-EF4D-7E74-1E5C8A02D8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F037A6-A2DF-3D88-83E7-021C05B08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A6147-F0A3-5B67-3035-3063CBD4E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6792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197BD-62B2-F783-14BC-6550769F5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1D2B89-D5D8-9427-F988-7A3D4BC040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43DE4A-7BE3-924E-72F0-1FA7E3285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1520B-0543-3104-2D1C-44EF5D490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5344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DA2D7-BF3A-F304-0569-8E7B0912C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3F4DE8-9619-5B9E-4E5F-53524F22B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88610-180C-AD02-E2A3-E1F313E36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0DBD7-722B-E320-1895-AE76FBE1E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5155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ADAE2-20B3-317A-4E7D-37B5CFBD5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554713-80D7-25C7-19C7-EB61493EA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62A99-B079-295C-DA2B-A581C1CF7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57BF8-DF32-314E-AFF8-C01521C686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7523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94ECA-D0C0-FD07-813A-8FA8C65C0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15F5D-4232-96AE-3058-5C54225EE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196918-21FD-E12C-3693-F171CF930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BEA07-4410-ACFD-46B2-FBA40A952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9411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4C86D-F7A1-6F4D-84AD-CFDC13180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A5E71-8E57-BDC7-3796-5D0F6C338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466F6B-9E5F-4123-57CF-9751DEB19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5804D-49FB-D164-3D0A-64144AEB01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269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3A62D-1B47-FE48-127E-BC590DDF2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A45BF-31E8-8ACD-279F-01B5DFCA59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B810B6-659B-7EB7-0137-006ACA101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7A607-6429-176B-7675-0CB387C72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811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47714-3072-CC37-09F7-E4EB7457C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B014BE-8D51-FA20-ACA9-13895C81F2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9BFB6-5CF1-7627-BA36-12B96EFDD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2C0E-D523-4CCD-B626-EBB51135BB7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91143-5D14-C875-75F4-C2F906DD7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A185A-1F7A-23AC-EF7A-8EC4F4C58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6156-DBF4-4B22-AD33-9F0B9B430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083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F931-16F3-4C60-EFB1-2C7513CFD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3209F-CBC1-4A03-2732-A71FA8A3C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F8192-C40B-4738-3CE7-D66252985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2C0E-D523-4CCD-B626-EBB51135BB7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3E43C-5D1C-9C55-1379-28EEA9ED8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DB212-FD29-7785-686F-C39E03BF5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6156-DBF4-4B22-AD33-9F0B9B430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610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790E3-9AF7-F82C-7A3D-FDA02A37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73D92-9392-855A-0CF1-D2A25D1E2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A5189-93D6-EFB8-3903-C619602B6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2C0E-D523-4CCD-B626-EBB51135BB7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A6024-C0CA-AF12-5F2A-D8413163A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8C2D4-B4F3-2D12-B34C-3883DF2E0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6156-DBF4-4B22-AD33-9F0B9B430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699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F2765-C29F-35BF-F326-CF0067FD1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08F4F-9018-C3D5-5361-CC80F0756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A994A2-6CCC-4957-A4BA-B7A0B55E5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525D4-8A87-31FE-2A2E-7A327ACCD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2C0E-D523-4CCD-B626-EBB51135BB7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E3594C-8B4C-6F96-A3B7-C76DA96AC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66C92-F56F-2728-0D8A-7481C0DC9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6156-DBF4-4B22-AD33-9F0B9B430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249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A5B38-269E-D0A6-9394-8F07D76B6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80F09-36E8-92F3-A9E3-D224FDFE9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06D18A-6625-F7DC-6271-123D327D9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65F90B-80CC-E09B-9DFE-E2D2F2DBB9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E57E91-BF10-C9F3-1D4D-691E75FED9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5D9B0C-114E-40A8-3028-5E6B206E7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2C0E-D523-4CCD-B626-EBB51135BB7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6ACB2E-B896-61B6-4296-3CD29C42E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2AEBF2-79A2-548F-7C87-72E01B120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6156-DBF4-4B22-AD33-9F0B9B430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049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8CEFA-DE77-28F2-9CD2-E51532562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DBD9F1-E71F-37A9-894C-C53CDBDF7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2C0E-D523-4CCD-B626-EBB51135BB7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E40475-266A-7814-9EDC-7C33D4AF0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195B7-6412-FC4B-FE82-0B6166F36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6156-DBF4-4B22-AD33-9F0B9B430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406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5B613B-423D-6FAA-6E6C-BEF2B1AE1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2C0E-D523-4CCD-B626-EBB51135BB7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7B7BD8-0F0F-02FC-C3D3-B8544CD5C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919F4-372B-3138-ECD0-D98573D5D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6156-DBF4-4B22-AD33-9F0B9B430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757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74682-537B-71B7-500C-9B09EF42E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EA80-6DFA-0FED-E22C-8595D57E5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08BA97-9426-6E7C-8678-38B6250E7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7AA8A-4741-2305-292A-DA869351F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2C0E-D523-4CCD-B626-EBB51135BB7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2746F-F9E3-054B-EE2D-AE8CAE8B4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2D9000-2EA7-677B-DFDB-88E0310DC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6156-DBF4-4B22-AD33-9F0B9B430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24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E44B2-B0FC-6091-3F3C-EC3573419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52D321-8F75-BA03-9DA1-BFC78D3845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09EDDC-4EB7-6F77-3919-5A577DB5E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BFEE0-186E-CA34-AF11-21A9524F5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2C0E-D523-4CCD-B626-EBB51135BB7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A003D-7550-907C-3B9D-4C635087F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FEBEC-E437-710B-660F-DF55F0642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6156-DBF4-4B22-AD33-9F0B9B430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079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D4C6F-1D63-1F5C-EA7D-CBC93694E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5DC6EE-955A-8625-3561-D6BBC2ACB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CCFC3-D0DE-2C62-289F-3AAB2E5B0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2C0E-D523-4CCD-B626-EBB51135BB7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061B0-FA83-C89A-4864-FA4ED96E5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70645-8F33-FCBB-62B3-9636457F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6156-DBF4-4B22-AD33-9F0B9B430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86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FC944D-D672-D152-14E2-5529D4F8EC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604AE0-C8F2-5FAE-1FA7-CFCAA3B2F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60263-A41E-9ABE-99FB-4DAE8C118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2C0E-D523-4CCD-B626-EBB51135BB7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0B8CB-1836-D74A-9B37-627560E1A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9B327-3809-E944-E189-BDF253242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6156-DBF4-4B22-AD33-9F0B9B430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237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52D9F9-EF5D-7694-9152-672B61721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A6F7B-7DC1-D3B0-1059-E879164FA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0DF44-5105-BE49-31C8-186A69AD0F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32C0E-D523-4CCD-B626-EBB51135BB7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E87CF-D682-C970-35C6-1357A750DA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77954-AA80-E050-BF56-C3C18D5E9C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CC6156-DBF4-4B22-AD33-9F0B9B430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728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18" Type="http://schemas.openxmlformats.org/officeDocument/2006/relationships/image" Target="../media/image2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svg"/><Relationship Id="rId19" Type="http://schemas.openxmlformats.org/officeDocument/2006/relationships/image" Target="../media/image23.pn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B731D0E-FEDB-F172-5942-F834521B8ED2}"/>
              </a:ext>
            </a:extLst>
          </p:cNvPr>
          <p:cNvSpPr/>
          <p:nvPr/>
        </p:nvSpPr>
        <p:spPr>
          <a:xfrm>
            <a:off x="263235" y="4979565"/>
            <a:ext cx="4468090" cy="138001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08D77E-F188-5222-A2CD-CA7875C0A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235" y="1136665"/>
            <a:ext cx="11055927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latin typeface="Aptos Display" panose="020B0004020202020204" pitchFamily="34" charset="0"/>
              </a:rPr>
              <a:t>Comparative Evaluation of CNN Models for Alzheimer’s Detection using Frequency-Domain EEG Features</a:t>
            </a:r>
            <a:endParaRPr lang="en-IN" dirty="0">
              <a:latin typeface="Aptos Display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79301-6CB4-0B6F-91EC-1B11BFF4E4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235" y="3524265"/>
            <a:ext cx="9144000" cy="447719"/>
          </a:xfrm>
        </p:spPr>
        <p:txBody>
          <a:bodyPr/>
          <a:lstStyle/>
          <a:p>
            <a:pPr algn="l"/>
            <a:r>
              <a:rPr lang="en-US" dirty="0">
                <a:latin typeface="Aptos Display" panose="020B0004020202020204" pitchFamily="34" charset="0"/>
              </a:rPr>
              <a:t>M. Tech (IT) Minor Project Presentation</a:t>
            </a:r>
          </a:p>
          <a:p>
            <a:pPr algn="l"/>
            <a:endParaRPr lang="en-US" dirty="0">
              <a:latin typeface="Aptos Display" panose="020B0004020202020204" pitchFamily="34" charset="0"/>
            </a:endParaRPr>
          </a:p>
          <a:p>
            <a:pPr algn="l"/>
            <a:endParaRPr lang="en-US" dirty="0">
              <a:latin typeface="Aptos Display" panose="020B0004020202020204" pitchFamily="34" charset="0"/>
            </a:endParaRPr>
          </a:p>
          <a:p>
            <a:pPr algn="l"/>
            <a:endParaRPr lang="en-IN" dirty="0"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2DE9D6-1BB0-C419-C507-EDD4D59AFFEE}"/>
              </a:ext>
            </a:extLst>
          </p:cNvPr>
          <p:cNvSpPr txBox="1"/>
          <p:nvPr/>
        </p:nvSpPr>
        <p:spPr>
          <a:xfrm>
            <a:off x="394852" y="5048585"/>
            <a:ext cx="71073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latin typeface="Aptos Display" panose="020B0004020202020204" pitchFamily="34" charset="0"/>
              </a:rPr>
              <a:t>Presented by: </a:t>
            </a:r>
          </a:p>
          <a:p>
            <a:pPr algn="l"/>
            <a:r>
              <a:rPr lang="en-US" b="1" dirty="0">
                <a:latin typeface="Aptos Display" panose="020B0004020202020204" pitchFamily="34" charset="0"/>
              </a:rPr>
              <a:t>Name: </a:t>
            </a:r>
            <a:r>
              <a:rPr lang="en-US" dirty="0" err="1">
                <a:latin typeface="Aptos Display" panose="020B0004020202020204" pitchFamily="34" charset="0"/>
              </a:rPr>
              <a:t>Arkidaroi</a:t>
            </a:r>
            <a:r>
              <a:rPr lang="en-US" dirty="0">
                <a:latin typeface="Aptos Display" panose="020B0004020202020204" pitchFamily="34" charset="0"/>
              </a:rPr>
              <a:t> Sama</a:t>
            </a:r>
          </a:p>
          <a:p>
            <a:pPr algn="l"/>
            <a:r>
              <a:rPr lang="en-IN" b="1" dirty="0">
                <a:latin typeface="Aptos Display" panose="020B0004020202020204" pitchFamily="34" charset="0"/>
              </a:rPr>
              <a:t>Roll No: </a:t>
            </a:r>
            <a:r>
              <a:rPr lang="en-IN" dirty="0">
                <a:latin typeface="Aptos Display" panose="020B0004020202020204" pitchFamily="34" charset="0"/>
              </a:rPr>
              <a:t>MTECHIT_01</a:t>
            </a:r>
          </a:p>
          <a:p>
            <a:pPr algn="l"/>
            <a:r>
              <a:rPr lang="en-IN" b="1" dirty="0">
                <a:latin typeface="Aptos Display" panose="020B0004020202020204" pitchFamily="34" charset="0"/>
              </a:rPr>
              <a:t>Department: </a:t>
            </a:r>
            <a:r>
              <a:rPr lang="en-IN" dirty="0">
                <a:latin typeface="Aptos Display" panose="020B0004020202020204" pitchFamily="34" charset="0"/>
              </a:rPr>
              <a:t>Information Technology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A846ED-3C6B-804A-5024-803D3272BA54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ptos Display" panose="020B0004020202020204" pitchFamily="34" charset="0"/>
              </a:rPr>
              <a:t>Progress Report Presentation 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D3B5023-7E6A-B742-8B93-BE14A3C68227}"/>
              </a:ext>
            </a:extLst>
          </p:cNvPr>
          <p:cNvCxnSpPr>
            <a:cxnSpLocks/>
          </p:cNvCxnSpPr>
          <p:nvPr/>
        </p:nvCxnSpPr>
        <p:spPr>
          <a:xfrm>
            <a:off x="4599707" y="1020357"/>
            <a:ext cx="707967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C32BDA25-B6F9-1352-69F2-B2F79E0BE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794" y="4737613"/>
            <a:ext cx="1621971" cy="16219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F47961F-02C2-724E-4CAE-C5F7F14AF23C}"/>
              </a:ext>
            </a:extLst>
          </p:cNvPr>
          <p:cNvSpPr txBox="1"/>
          <p:nvPr/>
        </p:nvSpPr>
        <p:spPr>
          <a:xfrm>
            <a:off x="263235" y="4007812"/>
            <a:ext cx="6127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Aptos Display" panose="020B0004020202020204" pitchFamily="34" charset="0"/>
              </a:rPr>
              <a:t>11</a:t>
            </a:r>
            <a:r>
              <a:rPr lang="en-US" sz="1800" b="1" baseline="30000" dirty="0">
                <a:latin typeface="Aptos Display" panose="020B0004020202020204" pitchFamily="34" charset="0"/>
              </a:rPr>
              <a:t>th</a:t>
            </a:r>
            <a:r>
              <a:rPr lang="en-US" sz="1800" b="1" dirty="0">
                <a:latin typeface="Aptos Display" panose="020B0004020202020204" pitchFamily="34" charset="0"/>
              </a:rPr>
              <a:t> December 2025</a:t>
            </a:r>
            <a:endParaRPr lang="en-IN" sz="1800" b="1" dirty="0">
              <a:latin typeface="Aptos Display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B57DA70-3DD2-B204-76DB-2542346A8917}"/>
              </a:ext>
            </a:extLst>
          </p:cNvPr>
          <p:cNvSpPr/>
          <p:nvPr/>
        </p:nvSpPr>
        <p:spPr>
          <a:xfrm>
            <a:off x="4966852" y="4979565"/>
            <a:ext cx="4468090" cy="138001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2716A4-2805-959E-46C8-6BE4A8EEF4AC}"/>
              </a:ext>
            </a:extLst>
          </p:cNvPr>
          <p:cNvSpPr txBox="1"/>
          <p:nvPr/>
        </p:nvSpPr>
        <p:spPr>
          <a:xfrm>
            <a:off x="5121552" y="5159255"/>
            <a:ext cx="61278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Aptos Display" panose="020B0004020202020204" pitchFamily="34" charset="0"/>
              </a:rPr>
              <a:t>Under the Supervision of: </a:t>
            </a:r>
          </a:p>
          <a:p>
            <a:r>
              <a:rPr lang="en-US" sz="1800" b="1" dirty="0">
                <a:latin typeface="Aptos Display" panose="020B0004020202020204" pitchFamily="34" charset="0"/>
              </a:rPr>
              <a:t>Name: </a:t>
            </a:r>
            <a:r>
              <a:rPr lang="en-US" sz="1800" dirty="0">
                <a:latin typeface="Aptos Display" panose="020B0004020202020204" pitchFamily="34" charset="0"/>
              </a:rPr>
              <a:t>Mrs. Sangita Neog</a:t>
            </a:r>
          </a:p>
          <a:p>
            <a:r>
              <a:rPr lang="en-IN" sz="1800" b="1" dirty="0">
                <a:latin typeface="Aptos Display" panose="020B0004020202020204" pitchFamily="34" charset="0"/>
              </a:rPr>
              <a:t>Department: </a:t>
            </a:r>
            <a:r>
              <a:rPr lang="en-IN" sz="1800" dirty="0">
                <a:latin typeface="Aptos Display" panose="020B0004020202020204" pitchFamily="34" charset="0"/>
              </a:rPr>
              <a:t>Information Technology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CDDD573-D3ED-FCED-24E0-13AB8D2C548A}"/>
              </a:ext>
            </a:extLst>
          </p:cNvPr>
          <p:cNvCxnSpPr>
            <a:cxnSpLocks/>
          </p:cNvCxnSpPr>
          <p:nvPr/>
        </p:nvCxnSpPr>
        <p:spPr>
          <a:xfrm>
            <a:off x="395785" y="4577416"/>
            <a:ext cx="890754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180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9B4FB-54E6-A233-0577-8244A77AF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4587BB1-00EE-E444-AED5-642E79DAEB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234" y="1557705"/>
            <a:ext cx="11416148" cy="2771924"/>
          </a:xfrm>
        </p:spPr>
        <p:txBody>
          <a:bodyPr>
            <a:noAutofit/>
          </a:bodyPr>
          <a:lstStyle/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Problem Statement</a:t>
            </a: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Objectives</a:t>
            </a: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Introduction</a:t>
            </a: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Selected Models</a:t>
            </a: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Dataset</a:t>
            </a: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Proposed Methodology</a:t>
            </a: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Metadata Creation</a:t>
            </a: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EEG Preprocessing</a:t>
            </a: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Feature Extraction</a:t>
            </a: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Expected Outcome</a:t>
            </a: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Aptos Display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783841-D0D3-3F62-CFC0-EAEAE480671E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Contents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B19B651-5CB8-261C-21A4-0B0A9DA3599A}"/>
              </a:ext>
            </a:extLst>
          </p:cNvPr>
          <p:cNvCxnSpPr>
            <a:cxnSpLocks/>
          </p:cNvCxnSpPr>
          <p:nvPr/>
        </p:nvCxnSpPr>
        <p:spPr>
          <a:xfrm>
            <a:off x="1685581" y="1020357"/>
            <a:ext cx="999380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18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A14BF-38AA-2939-E84B-C027F464A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346409-12E1-B4C8-D844-1C0A43D0B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234" y="1557705"/>
            <a:ext cx="11416148" cy="2771924"/>
          </a:xfrm>
        </p:spPr>
        <p:txBody>
          <a:bodyPr>
            <a:noAutofit/>
          </a:bodyPr>
          <a:lstStyle/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Numerous CNN architectures exist for EEG classification, but most are optimized for Brain-Computer Interface (BCI) tasks.</a:t>
            </a: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Aptos Display" panose="020B00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The effectiveness of these models for Alzheimer's Disease (AD) detection is not fully explored.</a:t>
            </a: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Aptos Display" panose="020B00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Specifically, their performance using Welch-based frequency-domain features remains a research gap.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BF982-9FD0-6618-7C45-FED86FDE413E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Problem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639B338-836E-DF7C-CDF0-BD4077A7F9B6}"/>
              </a:ext>
            </a:extLst>
          </p:cNvPr>
          <p:cNvCxnSpPr>
            <a:cxnSpLocks/>
          </p:cNvCxnSpPr>
          <p:nvPr/>
        </p:nvCxnSpPr>
        <p:spPr>
          <a:xfrm>
            <a:off x="3002507" y="1020357"/>
            <a:ext cx="867687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0211F17-385E-440A-74EE-BFD9460322B8}"/>
              </a:ext>
            </a:extLst>
          </p:cNvPr>
          <p:cNvSpPr/>
          <p:nvPr/>
        </p:nvSpPr>
        <p:spPr>
          <a:xfrm>
            <a:off x="128532" y="4651484"/>
            <a:ext cx="11800234" cy="845933"/>
          </a:xfrm>
          <a:prstGeom prst="roundRect">
            <a:avLst>
              <a:gd name="adj" fmla="val 727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accent2">
                  <a:lumMod val="75000"/>
                </a:schemeClr>
              </a:solidFill>
              <a:latin typeface="Aptos Display" panose="020B00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9707BC-DF2A-7C5B-16CE-48C75007F4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34" y="4848919"/>
            <a:ext cx="478057" cy="47805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198AC0-F553-8AE1-DC62-608ACD087182}"/>
              </a:ext>
            </a:extLst>
          </p:cNvPr>
          <p:cNvSpPr txBox="1"/>
          <p:nvPr/>
        </p:nvSpPr>
        <p:spPr>
          <a:xfrm>
            <a:off x="741290" y="4764783"/>
            <a:ext cx="111874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"How do state-of-the-art CNNs perform when applied to frequency-domain EEG data for neurodegenerative disease detection?"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186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277A-F2AE-F432-8962-8F13DCF8B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30E5F85-FB4D-DA1E-AFE2-A7B182432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234" y="1557704"/>
            <a:ext cx="11416148" cy="4413437"/>
          </a:xfrm>
        </p:spPr>
        <p:txBody>
          <a:bodyPr>
            <a:noAutofit/>
          </a:bodyPr>
          <a:lstStyle/>
          <a:p>
            <a:pPr marL="285750" indent="-285750" algn="just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ptos Display" panose="020B0004020202020204" pitchFamily="34" charset="0"/>
              </a:rPr>
              <a:t>Preprocess resting-state EEG signals from the </a:t>
            </a:r>
            <a:r>
              <a:rPr lang="en-US" sz="2000" dirty="0" err="1">
                <a:solidFill>
                  <a:schemeClr val="tx1"/>
                </a:solidFill>
                <a:latin typeface="Aptos Display" panose="020B0004020202020204" pitchFamily="34" charset="0"/>
              </a:rPr>
              <a:t>OpenNeuro</a:t>
            </a:r>
            <a:r>
              <a:rPr lang="en-US" sz="2000" dirty="0">
                <a:solidFill>
                  <a:schemeClr val="tx1"/>
                </a:solidFill>
                <a:latin typeface="Aptos Display" panose="020B0004020202020204" pitchFamily="34" charset="0"/>
              </a:rPr>
              <a:t> ds004504 dataset.</a:t>
            </a:r>
          </a:p>
          <a:p>
            <a:pPr marL="285750" indent="-285750" algn="just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marL="285750" indent="-285750" algn="just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ptos Display" panose="020B0004020202020204" pitchFamily="34" charset="0"/>
              </a:rPr>
              <a:t>Extract frequency-domain features using the Welch PSD method.</a:t>
            </a:r>
          </a:p>
          <a:p>
            <a:pPr marL="285750" indent="-285750" algn="just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marL="285750" indent="-285750" algn="just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ptos Display" panose="020B0004020202020204" pitchFamily="34" charset="0"/>
              </a:rPr>
              <a:t>Implement five CNN architectures for EEG classification.</a:t>
            </a:r>
          </a:p>
          <a:p>
            <a:pPr marL="285750" indent="-285750" algn="just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marL="285750" indent="-285750" algn="just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ptos Display" panose="020B0004020202020204" pitchFamily="34" charset="0"/>
              </a:rPr>
              <a:t>Evaluate and compare model performance using subject-wise cross-validation.</a:t>
            </a:r>
          </a:p>
          <a:p>
            <a:pPr marL="285750" indent="-285750" algn="just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marL="285750" indent="-285750" algn="just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ptos Display" panose="020B0004020202020204" pitchFamily="34" charset="0"/>
              </a:rPr>
              <a:t>Identify the most effective CNN model for Alzheimer’s detection.</a:t>
            </a:r>
            <a:endParaRPr lang="en-IN" sz="20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D17C27-F153-2948-FD1A-0BB611DBD1FA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Objectives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4B685B6-E7CD-548D-0BAE-C35AEC000341}"/>
              </a:ext>
            </a:extLst>
          </p:cNvPr>
          <p:cNvCxnSpPr>
            <a:cxnSpLocks/>
          </p:cNvCxnSpPr>
          <p:nvPr/>
        </p:nvCxnSpPr>
        <p:spPr>
          <a:xfrm>
            <a:off x="1850834" y="1020357"/>
            <a:ext cx="982854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545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AE3AC-EF08-5032-F400-3216B6D55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94AB72-1A14-6DE1-6E79-FC6281C6A4AA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B132691-B4C9-EB5F-6104-8A2CEAC3723A}"/>
              </a:ext>
            </a:extLst>
          </p:cNvPr>
          <p:cNvCxnSpPr>
            <a:cxnSpLocks/>
          </p:cNvCxnSpPr>
          <p:nvPr/>
        </p:nvCxnSpPr>
        <p:spPr>
          <a:xfrm>
            <a:off x="2082188" y="1020357"/>
            <a:ext cx="959719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15E85D5-EF05-27CC-3069-A8CE82764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302" y="1785367"/>
            <a:ext cx="571500" cy="495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40D109-314C-3E5F-5B9A-9511EEDBFCF3}"/>
              </a:ext>
            </a:extLst>
          </p:cNvPr>
          <p:cNvSpPr txBox="1"/>
          <p:nvPr/>
        </p:nvSpPr>
        <p:spPr>
          <a:xfrm>
            <a:off x="2658216" y="1785367"/>
            <a:ext cx="266883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i="0" dirty="0">
                <a:effectLst/>
                <a:latin typeface="Aptos Display" panose="020B0004020202020204" pitchFamily="34" charset="0"/>
              </a:rPr>
              <a:t>Alzheimer’s Disease</a:t>
            </a:r>
          </a:p>
          <a:p>
            <a:pPr algn="l">
              <a:buNone/>
            </a:pPr>
            <a:r>
              <a:rPr lang="en-US" sz="2000" b="0" i="0" dirty="0">
                <a:effectLst/>
                <a:latin typeface="Aptos Display" panose="020B0004020202020204" pitchFamily="34" charset="0"/>
              </a:rPr>
              <a:t>A progressive neurodegenerative disorder requiring early, non-invasive detection methods.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89EE98-22D6-3C09-1B4C-66595B063F28}"/>
              </a:ext>
            </a:extLst>
          </p:cNvPr>
          <p:cNvSpPr txBox="1"/>
          <p:nvPr/>
        </p:nvSpPr>
        <p:spPr>
          <a:xfrm>
            <a:off x="2564803" y="4083317"/>
            <a:ext cx="27622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i="0" dirty="0">
                <a:effectLst/>
                <a:latin typeface="Aptos Display" panose="020B0004020202020204" pitchFamily="34" charset="0"/>
              </a:rPr>
              <a:t>EEG as a Diagnostic Tool</a:t>
            </a:r>
          </a:p>
          <a:p>
            <a:pPr algn="l">
              <a:buNone/>
            </a:pPr>
            <a:r>
              <a:rPr lang="en-US" sz="2000" b="0" i="0" dirty="0">
                <a:effectLst/>
                <a:latin typeface="Aptos Display" panose="020B0004020202020204" pitchFamily="34" charset="0"/>
              </a:rPr>
              <a:t>Low-cost, non-invasive, and provides high temporal resolution of brain dynamics.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23C96A-EAA9-08C1-CA05-038633BAA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3302" y="4083317"/>
            <a:ext cx="523875" cy="533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55C4C67-ACC8-40CC-7660-2FEB35B6D4AA}"/>
              </a:ext>
            </a:extLst>
          </p:cNvPr>
          <p:cNvSpPr txBox="1"/>
          <p:nvPr/>
        </p:nvSpPr>
        <p:spPr>
          <a:xfrm>
            <a:off x="7515914" y="1785367"/>
            <a:ext cx="280987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i="0" dirty="0">
                <a:effectLst/>
                <a:latin typeface="Aptos Display" panose="020B0004020202020204" pitchFamily="34" charset="0"/>
              </a:rPr>
              <a:t>Deep Learning</a:t>
            </a:r>
          </a:p>
          <a:p>
            <a:pPr algn="l">
              <a:buNone/>
            </a:pPr>
            <a:r>
              <a:rPr lang="en-US" sz="2000" b="0" i="0" dirty="0">
                <a:effectLst/>
                <a:latin typeface="Aptos Display" panose="020B0004020202020204" pitchFamily="34" charset="0"/>
              </a:rPr>
              <a:t>Automates feature extraction and captures complex non-linear patterns in EEG data.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1BFA12-4F34-F4FC-C889-C06F60BA7EC8}"/>
              </a:ext>
            </a:extLst>
          </p:cNvPr>
          <p:cNvSpPr txBox="1"/>
          <p:nvPr/>
        </p:nvSpPr>
        <p:spPr>
          <a:xfrm>
            <a:off x="7515914" y="4083317"/>
            <a:ext cx="280987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i="0" dirty="0">
                <a:effectLst/>
                <a:latin typeface="Aptos Display" panose="020B0004020202020204" pitchFamily="34" charset="0"/>
              </a:rPr>
              <a:t>Frequency Domain Analysis</a:t>
            </a:r>
          </a:p>
          <a:p>
            <a:pPr algn="l">
              <a:buNone/>
            </a:pPr>
            <a:r>
              <a:rPr lang="en-US" sz="2000" b="0" i="0" dirty="0">
                <a:effectLst/>
                <a:latin typeface="Aptos Display" panose="020B0004020202020204" pitchFamily="34" charset="0"/>
              </a:rPr>
              <a:t>Welch PSD provides a robust estimation of spectral content, crucial for AD biomarkers.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ECDDABB-3865-0E73-2C54-97B71488D1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4949" y="1785367"/>
            <a:ext cx="571500" cy="5048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019B13B-852F-1122-1C3D-AB10F08C2D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049" y="4102367"/>
            <a:ext cx="495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253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DF1CE-C844-D8B9-9506-E2F545454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7D69483-3148-53C2-0DA4-964DBF2837F2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Selected CNN Models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2E99E4E-B36F-07A0-3894-1479879128F0}"/>
              </a:ext>
            </a:extLst>
          </p:cNvPr>
          <p:cNvCxnSpPr>
            <a:cxnSpLocks/>
          </p:cNvCxnSpPr>
          <p:nvPr/>
        </p:nvCxnSpPr>
        <p:spPr>
          <a:xfrm>
            <a:off x="3360145" y="1020357"/>
            <a:ext cx="83192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A691FB3-866B-21C6-FA5D-2719CC50E9BC}"/>
              </a:ext>
            </a:extLst>
          </p:cNvPr>
          <p:cNvSpPr txBox="1"/>
          <p:nvPr/>
        </p:nvSpPr>
        <p:spPr>
          <a:xfrm>
            <a:off x="263234" y="3429000"/>
            <a:ext cx="1141614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b="0" i="0" dirty="0" err="1">
                <a:effectLst/>
                <a:latin typeface="Aptos Display" panose="020B0004020202020204" pitchFamily="34" charset="0"/>
              </a:rPr>
              <a:t>EEGNet</a:t>
            </a:r>
            <a:r>
              <a:rPr lang="en-US" sz="2000" b="0" i="0" dirty="0">
                <a:effectLst/>
                <a:latin typeface="Aptos Display" panose="020B0004020202020204" pitchFamily="34" charset="0"/>
              </a:rPr>
              <a:t>: Compact CNN for various EEG paradigms.</a:t>
            </a:r>
          </a:p>
          <a:p>
            <a:pPr marL="285750" indent="-285750" algn="l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b="0" i="0" dirty="0">
              <a:effectLst/>
              <a:latin typeface="Aptos Display" panose="020B0004020202020204" pitchFamily="34" charset="0"/>
            </a:endParaRPr>
          </a:p>
          <a:p>
            <a:pPr marL="285750" indent="-285750" algn="l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ptos Display" panose="020B0004020202020204" pitchFamily="34" charset="0"/>
              </a:rPr>
              <a:t>Shallow/</a:t>
            </a:r>
            <a:r>
              <a:rPr lang="en-US" sz="2000" b="0" i="0" dirty="0" err="1">
                <a:effectLst/>
                <a:latin typeface="Aptos Display" panose="020B0004020202020204" pitchFamily="34" charset="0"/>
              </a:rPr>
              <a:t>DeepConvNet</a:t>
            </a:r>
            <a:r>
              <a:rPr lang="en-US" sz="2000" b="0" i="0" dirty="0">
                <a:effectLst/>
                <a:latin typeface="Aptos Display" panose="020B0004020202020204" pitchFamily="34" charset="0"/>
              </a:rPr>
              <a:t>: Inspired by computer vision architectures.</a:t>
            </a:r>
          </a:p>
          <a:p>
            <a:pPr marL="285750" indent="-285750" algn="l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b="0" i="0" dirty="0">
              <a:effectLst/>
              <a:latin typeface="Aptos Display" panose="020B0004020202020204" pitchFamily="34" charset="0"/>
            </a:endParaRPr>
          </a:p>
          <a:p>
            <a:pPr marL="285750" indent="-285750" algn="l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b="0" i="0" dirty="0" err="1">
                <a:effectLst/>
                <a:latin typeface="Aptos Display" panose="020B0004020202020204" pitchFamily="34" charset="0"/>
              </a:rPr>
              <a:t>FBCNet</a:t>
            </a:r>
            <a:r>
              <a:rPr lang="en-US" sz="2000" b="0" i="0" dirty="0">
                <a:effectLst/>
                <a:latin typeface="Aptos Display" panose="020B0004020202020204" pitchFamily="34" charset="0"/>
              </a:rPr>
              <a:t>: Designed for multi-view frequency-domain features.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31CDDA6-C161-1C92-1BB1-6A61ED06F752}"/>
              </a:ext>
            </a:extLst>
          </p:cNvPr>
          <p:cNvSpPr/>
          <p:nvPr/>
        </p:nvSpPr>
        <p:spPr>
          <a:xfrm>
            <a:off x="570708" y="2181340"/>
            <a:ext cx="1905918" cy="638978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002060"/>
                </a:solidFill>
                <a:latin typeface="Aptos Display" panose="020B0004020202020204" pitchFamily="34" charset="0"/>
              </a:rPr>
              <a:t>EEGNet</a:t>
            </a:r>
            <a:endParaRPr lang="en-IN" sz="2000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2C3390B-B621-5886-1D94-ED6948E34848}"/>
              </a:ext>
            </a:extLst>
          </p:cNvPr>
          <p:cNvSpPr/>
          <p:nvPr/>
        </p:nvSpPr>
        <p:spPr>
          <a:xfrm>
            <a:off x="2728176" y="2181340"/>
            <a:ext cx="2238593" cy="638978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Aptos Display" panose="020B0004020202020204" pitchFamily="34" charset="0"/>
              </a:rPr>
              <a:t>ShallowConvNet</a:t>
            </a:r>
            <a:endParaRPr lang="en-IN" sz="2000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8D4164D-88C2-2815-FAEA-65646B3FEBF6}"/>
              </a:ext>
            </a:extLst>
          </p:cNvPr>
          <p:cNvSpPr/>
          <p:nvPr/>
        </p:nvSpPr>
        <p:spPr>
          <a:xfrm>
            <a:off x="5218319" y="2190901"/>
            <a:ext cx="1905918" cy="638978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002060"/>
                </a:solidFill>
                <a:latin typeface="Aptos Display" panose="020B0004020202020204" pitchFamily="34" charset="0"/>
              </a:rPr>
              <a:t>DeepConvNet</a:t>
            </a:r>
            <a:endParaRPr lang="en-IN" sz="2000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5B88F9-8832-8C58-D919-46D5CAE1092A}"/>
              </a:ext>
            </a:extLst>
          </p:cNvPr>
          <p:cNvSpPr/>
          <p:nvPr/>
        </p:nvSpPr>
        <p:spPr>
          <a:xfrm>
            <a:off x="7375788" y="2200462"/>
            <a:ext cx="1905918" cy="638978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002060"/>
                </a:solidFill>
                <a:latin typeface="Aptos Display" panose="020B0004020202020204" pitchFamily="34" charset="0"/>
              </a:rPr>
              <a:t>SCCNet</a:t>
            </a:r>
            <a:endParaRPr lang="en-IN" sz="2000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99407A4-1916-D9FC-1E2F-7C3E15BA4F55}"/>
              </a:ext>
            </a:extLst>
          </p:cNvPr>
          <p:cNvSpPr/>
          <p:nvPr/>
        </p:nvSpPr>
        <p:spPr>
          <a:xfrm>
            <a:off x="9533257" y="2200462"/>
            <a:ext cx="1905918" cy="638978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002060"/>
                </a:solidFill>
                <a:latin typeface="Aptos Display" panose="020B0004020202020204" pitchFamily="34" charset="0"/>
              </a:rPr>
              <a:t>FBCNet</a:t>
            </a:r>
            <a:endParaRPr lang="en-IN" sz="2000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777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798E5-D003-B5C2-82BA-E291B9D3A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3999AD7-F0EF-CFCB-B38D-F804F5E580A4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Dataset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08CDAB-F3D1-CC9C-B7BD-2D135BD3C5AC}"/>
              </a:ext>
            </a:extLst>
          </p:cNvPr>
          <p:cNvCxnSpPr>
            <a:cxnSpLocks/>
          </p:cNvCxnSpPr>
          <p:nvPr/>
        </p:nvCxnSpPr>
        <p:spPr>
          <a:xfrm>
            <a:off x="1498294" y="1020357"/>
            <a:ext cx="1018108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7524C4C-5621-FA20-C6AA-7B8464CF4405}"/>
              </a:ext>
            </a:extLst>
          </p:cNvPr>
          <p:cNvSpPr txBox="1"/>
          <p:nvPr/>
        </p:nvSpPr>
        <p:spPr>
          <a:xfrm>
            <a:off x="263234" y="1552449"/>
            <a:ext cx="1141614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Source: </a:t>
            </a:r>
            <a:r>
              <a:rPr lang="en-US" sz="2000" dirty="0" err="1">
                <a:latin typeface="Aptos Display" panose="020B0004020202020204" pitchFamily="34" charset="0"/>
              </a:rPr>
              <a:t>OpenNeuro</a:t>
            </a:r>
            <a:r>
              <a:rPr lang="en-US" sz="2000" dirty="0">
                <a:latin typeface="Aptos Display" panose="020B0004020202020204" pitchFamily="34" charset="0"/>
              </a:rPr>
              <a:t> ds004504</a:t>
            </a:r>
          </a:p>
          <a:p>
            <a:pPr marL="285750" indent="-2857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Aptos Display" panose="020B0004020202020204" pitchFamily="34" charset="0"/>
            </a:endParaRPr>
          </a:p>
          <a:p>
            <a:pPr marL="285750" indent="-2857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Type: Resting-state EEG (Eyes Closed)</a:t>
            </a:r>
          </a:p>
          <a:p>
            <a:pPr marL="285750" indent="-2857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Aptos Display" panose="020B0004020202020204" pitchFamily="34" charset="0"/>
            </a:endParaRPr>
          </a:p>
          <a:p>
            <a:pPr marL="285750" indent="-2857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Configuration: 19 Channels, 500 Hz Sampling Rate</a:t>
            </a:r>
          </a:p>
          <a:p>
            <a:pPr marL="285750" indent="-2857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Aptos Display" panose="020B0004020202020204" pitchFamily="34" charset="0"/>
            </a:endParaRPr>
          </a:p>
          <a:p>
            <a:pPr marL="285750" indent="-2857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Total Subjects: 88 (176 EEG files detected)</a:t>
            </a:r>
          </a:p>
          <a:p>
            <a:pPr marL="285750" indent="-2857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Aptos Display" panose="020B0004020202020204" pitchFamily="34" charset="0"/>
            </a:endParaRPr>
          </a:p>
          <a:p>
            <a:pPr marL="285750" indent="-2857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Class distribution: AD (36), CN (29), FTD (23)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3AE3479-B94C-A644-A532-4802547F7600}"/>
              </a:ext>
            </a:extLst>
          </p:cNvPr>
          <p:cNvGraphicFramePr>
            <a:graphicFrameLocks/>
          </p:cNvGraphicFramePr>
          <p:nvPr/>
        </p:nvGraphicFramePr>
        <p:xfrm>
          <a:off x="5927262" y="1761467"/>
          <a:ext cx="5752120" cy="3451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80455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75BFA-2641-B720-E903-76008DD32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F169212-3011-64EA-5C30-5E71E7D24969}"/>
              </a:ext>
            </a:extLst>
          </p:cNvPr>
          <p:cNvSpPr/>
          <p:nvPr/>
        </p:nvSpPr>
        <p:spPr>
          <a:xfrm>
            <a:off x="8853070" y="4115272"/>
            <a:ext cx="2202658" cy="142192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7C7E0D6-3285-9B61-02BA-48C3332EE124}"/>
              </a:ext>
            </a:extLst>
          </p:cNvPr>
          <p:cNvSpPr/>
          <p:nvPr/>
        </p:nvSpPr>
        <p:spPr>
          <a:xfrm>
            <a:off x="6096000" y="4128585"/>
            <a:ext cx="2202658" cy="142192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257BC5C-BB3F-BFE3-D44B-777F2BF285E9}"/>
              </a:ext>
            </a:extLst>
          </p:cNvPr>
          <p:cNvSpPr/>
          <p:nvPr/>
        </p:nvSpPr>
        <p:spPr>
          <a:xfrm>
            <a:off x="3338930" y="4138122"/>
            <a:ext cx="2202658" cy="142192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9942763-5B3D-6281-F5E7-F7A1A45BA760}"/>
              </a:ext>
            </a:extLst>
          </p:cNvPr>
          <p:cNvSpPr/>
          <p:nvPr/>
        </p:nvSpPr>
        <p:spPr>
          <a:xfrm>
            <a:off x="575699" y="4143555"/>
            <a:ext cx="2202658" cy="142192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5359B93-1373-6A30-60FD-F9801FD0B645}"/>
              </a:ext>
            </a:extLst>
          </p:cNvPr>
          <p:cNvSpPr/>
          <p:nvPr/>
        </p:nvSpPr>
        <p:spPr>
          <a:xfrm>
            <a:off x="8839229" y="1828188"/>
            <a:ext cx="2202658" cy="142192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09664A7-D068-B5F9-2756-6B6FFFFDF117}"/>
              </a:ext>
            </a:extLst>
          </p:cNvPr>
          <p:cNvSpPr/>
          <p:nvPr/>
        </p:nvSpPr>
        <p:spPr>
          <a:xfrm>
            <a:off x="6082159" y="1841501"/>
            <a:ext cx="2202658" cy="142192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BE63A39-3717-E624-A30F-6C94794015CC}"/>
              </a:ext>
            </a:extLst>
          </p:cNvPr>
          <p:cNvSpPr/>
          <p:nvPr/>
        </p:nvSpPr>
        <p:spPr>
          <a:xfrm>
            <a:off x="3325089" y="1851038"/>
            <a:ext cx="2202658" cy="142192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CB97060-9442-99A1-A6DE-126519B1AF1E}"/>
              </a:ext>
            </a:extLst>
          </p:cNvPr>
          <p:cNvSpPr/>
          <p:nvPr/>
        </p:nvSpPr>
        <p:spPr>
          <a:xfrm>
            <a:off x="561858" y="1856471"/>
            <a:ext cx="2202658" cy="142192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8D5A5D-D060-9132-9F21-DBCACC3C989E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Proposed Methodology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E2788C-11DF-E6A1-4ED4-2C3B802703A3}"/>
              </a:ext>
            </a:extLst>
          </p:cNvPr>
          <p:cNvCxnSpPr>
            <a:cxnSpLocks/>
          </p:cNvCxnSpPr>
          <p:nvPr/>
        </p:nvCxnSpPr>
        <p:spPr>
          <a:xfrm>
            <a:off x="3481330" y="1020357"/>
            <a:ext cx="8198052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772D436-B48A-DBAB-B100-3EC78126C1B6}"/>
              </a:ext>
            </a:extLst>
          </p:cNvPr>
          <p:cNvSpPr txBox="1"/>
          <p:nvPr/>
        </p:nvSpPr>
        <p:spPr>
          <a:xfrm>
            <a:off x="561858" y="2640177"/>
            <a:ext cx="2202658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600" b="1" i="0" dirty="0">
                <a:effectLst/>
                <a:latin typeface="Inter"/>
              </a:rPr>
              <a:t>Data Source</a:t>
            </a:r>
          </a:p>
          <a:p>
            <a:pPr algn="ctr">
              <a:spcBef>
                <a:spcPts val="300"/>
              </a:spcBef>
              <a:buNone/>
            </a:pPr>
            <a:r>
              <a:rPr lang="en-IN" sz="1600" b="0" i="0" dirty="0" err="1">
                <a:effectLst/>
                <a:latin typeface="Inter"/>
              </a:rPr>
              <a:t>OpenNeuro</a:t>
            </a:r>
            <a:r>
              <a:rPr lang="en-IN" sz="1600" dirty="0">
                <a:latin typeface="Inter"/>
              </a:rPr>
              <a:t> </a:t>
            </a:r>
            <a:r>
              <a:rPr lang="en-IN" sz="1600" b="0" i="0" dirty="0">
                <a:effectLst/>
                <a:latin typeface="Inter"/>
              </a:rPr>
              <a:t>ds004504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D0F655-DF30-0226-A465-3B471E201424}"/>
              </a:ext>
            </a:extLst>
          </p:cNvPr>
          <p:cNvSpPr txBox="1"/>
          <p:nvPr/>
        </p:nvSpPr>
        <p:spPr>
          <a:xfrm>
            <a:off x="3325089" y="2648431"/>
            <a:ext cx="2202658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600" b="1" i="0" dirty="0">
                <a:effectLst/>
                <a:latin typeface="Inter"/>
              </a:rPr>
              <a:t>Preprocessing</a:t>
            </a:r>
          </a:p>
          <a:p>
            <a:pPr algn="ctr">
              <a:spcBef>
                <a:spcPts val="300"/>
              </a:spcBef>
              <a:buNone/>
            </a:pPr>
            <a:r>
              <a:rPr lang="en-IN" sz="1600" b="0" i="0" dirty="0">
                <a:effectLst/>
                <a:latin typeface="Inter"/>
              </a:rPr>
              <a:t>0.5-45Hz Filter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4C6AC7-25FC-3043-0201-D982966F339E}"/>
              </a:ext>
            </a:extLst>
          </p:cNvPr>
          <p:cNvSpPr txBox="1"/>
          <p:nvPr/>
        </p:nvSpPr>
        <p:spPr>
          <a:xfrm>
            <a:off x="6082160" y="2626864"/>
            <a:ext cx="2202658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600" b="1" i="0" dirty="0">
                <a:effectLst/>
                <a:latin typeface="Inter"/>
              </a:rPr>
              <a:t>Segmentation</a:t>
            </a:r>
          </a:p>
          <a:p>
            <a:pPr algn="ctr">
              <a:spcBef>
                <a:spcPts val="300"/>
              </a:spcBef>
              <a:buNone/>
            </a:pPr>
            <a:r>
              <a:rPr lang="en-IN" sz="1600" b="0" i="0" dirty="0">
                <a:effectLst/>
                <a:latin typeface="Inter"/>
              </a:rPr>
              <a:t>4s Epochs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68787B-3DA3-CC8A-59B0-FA2C091862C4}"/>
              </a:ext>
            </a:extLst>
          </p:cNvPr>
          <p:cNvSpPr txBox="1"/>
          <p:nvPr/>
        </p:nvSpPr>
        <p:spPr>
          <a:xfrm>
            <a:off x="8839229" y="2615847"/>
            <a:ext cx="2202658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600" b="1" i="0" dirty="0">
                <a:effectLst/>
                <a:latin typeface="Inter"/>
              </a:rPr>
              <a:t>Feature Extraction</a:t>
            </a:r>
          </a:p>
          <a:p>
            <a:pPr algn="ctr">
              <a:spcBef>
                <a:spcPts val="300"/>
              </a:spcBef>
              <a:buNone/>
            </a:pPr>
            <a:r>
              <a:rPr lang="en-IN" sz="1600" b="0" i="0" dirty="0">
                <a:effectLst/>
                <a:latin typeface="Inter"/>
              </a:rPr>
              <a:t>Welch PSD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C92489CA-4B75-FB24-3A85-3C0642A0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4515" y="1946089"/>
            <a:ext cx="746306" cy="740672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365F6A18-F80E-60CB-4D87-E8D8C3B26CE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53818" y="1945161"/>
            <a:ext cx="745200" cy="7416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D784C27C-8B25-D06C-D8CF-67EC3BC2EEF2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47580" y="1945161"/>
            <a:ext cx="745200" cy="7416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F0B9397C-9212-DEAA-2388-6CA2837638F4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67958" y="1898577"/>
            <a:ext cx="745200" cy="74160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D5B8B456-5BF5-A0BA-AD80-8FEF0B8CBBFC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07509" y="4204401"/>
            <a:ext cx="745200" cy="7416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174627C4-B5D0-CFF4-14DF-65A9690B6227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073233" y="4204401"/>
            <a:ext cx="745200" cy="756951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E6A77A5E-29B1-C74E-A262-95F0F6232E87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850895" y="4173303"/>
            <a:ext cx="745200" cy="7416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9F81208-AA14-CDFF-B862-A2E4AEF482D5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581799" y="4204401"/>
            <a:ext cx="745200" cy="7416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AE16EE8-76F4-C458-E4BE-3C7E12510DBC}"/>
              </a:ext>
            </a:extLst>
          </p:cNvPr>
          <p:cNvPicPr>
            <a:picLocks noChangeAspect="1"/>
          </p:cNvPicPr>
          <p:nvPr/>
        </p:nvPicPr>
        <p:blipFill>
          <a:blip r:embed="rId1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324" y="2407383"/>
            <a:ext cx="232794" cy="23279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3ECA852-4160-F10A-E76F-8074E62EAB01}"/>
              </a:ext>
            </a:extLst>
          </p:cNvPr>
          <p:cNvPicPr>
            <a:picLocks noChangeAspect="1"/>
          </p:cNvPicPr>
          <p:nvPr/>
        </p:nvPicPr>
        <p:blipFill>
          <a:blip r:embed="rId1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8556" y="2412552"/>
            <a:ext cx="232794" cy="232794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080B1DC-7352-71CC-B24F-FEAF061AD6A7}"/>
              </a:ext>
            </a:extLst>
          </p:cNvPr>
          <p:cNvPicPr>
            <a:picLocks noChangeAspect="1"/>
          </p:cNvPicPr>
          <p:nvPr/>
        </p:nvPicPr>
        <p:blipFill>
          <a:blip r:embed="rId1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1788" y="2415809"/>
            <a:ext cx="232794" cy="232794"/>
          </a:xfrm>
          <a:prstGeom prst="rect">
            <a:avLst/>
          </a:prstGeom>
        </p:spPr>
      </p:pic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1E41B0E-754C-B468-ADCE-FD1CAF6B21DB}"/>
              </a:ext>
            </a:extLst>
          </p:cNvPr>
          <p:cNvSpPr/>
          <p:nvPr/>
        </p:nvSpPr>
        <p:spPr>
          <a:xfrm>
            <a:off x="575699" y="1409823"/>
            <a:ext cx="1095810" cy="285456"/>
          </a:xfrm>
          <a:prstGeom prst="roundRect">
            <a:avLst>
              <a:gd name="adj" fmla="val 50000"/>
            </a:avLst>
          </a:prstGeom>
          <a:solidFill>
            <a:srgbClr val="38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ptos Display" panose="020B0004020202020204" pitchFamily="34" charset="0"/>
              </a:rPr>
              <a:t>Phase 1</a:t>
            </a:r>
            <a:endParaRPr lang="en-IN" sz="1600" dirty="0">
              <a:latin typeface="Aptos Display" panose="020B0004020202020204" pitchFamily="34" charset="0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9101315-7205-80F5-12BE-6E69C15844C0}"/>
              </a:ext>
            </a:extLst>
          </p:cNvPr>
          <p:cNvCxnSpPr>
            <a:cxnSpLocks/>
          </p:cNvCxnSpPr>
          <p:nvPr/>
        </p:nvCxnSpPr>
        <p:spPr>
          <a:xfrm>
            <a:off x="1795749" y="1552551"/>
            <a:ext cx="9259979" cy="0"/>
          </a:xfrm>
          <a:prstGeom prst="line">
            <a:avLst/>
          </a:prstGeom>
          <a:ln>
            <a:solidFill>
              <a:srgbClr val="3886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7170895-AB85-46AA-E9F0-0229F249CB21}"/>
              </a:ext>
            </a:extLst>
          </p:cNvPr>
          <p:cNvSpPr/>
          <p:nvPr/>
        </p:nvSpPr>
        <p:spPr>
          <a:xfrm>
            <a:off x="575699" y="3705221"/>
            <a:ext cx="1095810" cy="285456"/>
          </a:xfrm>
          <a:prstGeom prst="roundRect">
            <a:avLst>
              <a:gd name="adj" fmla="val 50000"/>
            </a:avLst>
          </a:prstGeom>
          <a:solidFill>
            <a:srgbClr val="007BB8"/>
          </a:solidFill>
          <a:ln>
            <a:solidFill>
              <a:srgbClr val="007B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ptos Display" panose="020B0004020202020204" pitchFamily="34" charset="0"/>
              </a:rPr>
              <a:t>Phase 2</a:t>
            </a:r>
            <a:endParaRPr lang="en-IN" sz="1600" dirty="0">
              <a:latin typeface="Aptos Display" panose="020B0004020202020204" pitchFamily="34" charset="0"/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EAEB658-6BDD-839D-3649-E4DE8464B6E6}"/>
              </a:ext>
            </a:extLst>
          </p:cNvPr>
          <p:cNvCxnSpPr>
            <a:cxnSpLocks/>
          </p:cNvCxnSpPr>
          <p:nvPr/>
        </p:nvCxnSpPr>
        <p:spPr>
          <a:xfrm>
            <a:off x="1795749" y="3847949"/>
            <a:ext cx="9259979" cy="0"/>
          </a:xfrm>
          <a:prstGeom prst="line">
            <a:avLst/>
          </a:prstGeom>
          <a:ln>
            <a:solidFill>
              <a:srgbClr val="007BB8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CD7B7994-5A8F-D225-B38B-1DCA955334DC}"/>
              </a:ext>
            </a:extLst>
          </p:cNvPr>
          <p:cNvSpPr txBox="1"/>
          <p:nvPr/>
        </p:nvSpPr>
        <p:spPr>
          <a:xfrm>
            <a:off x="578780" y="4935574"/>
            <a:ext cx="2202658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nb-NO" sz="1600" b="1" i="0" dirty="0">
                <a:effectLst/>
                <a:latin typeface="Inter"/>
              </a:rPr>
              <a:t>CNN Modeling</a:t>
            </a:r>
          </a:p>
          <a:p>
            <a:pPr algn="ctr">
              <a:spcBef>
                <a:spcPts val="300"/>
              </a:spcBef>
              <a:buNone/>
            </a:pPr>
            <a:r>
              <a:rPr lang="nb-NO" sz="1600" b="0" i="0" dirty="0">
                <a:effectLst/>
                <a:latin typeface="Inter"/>
              </a:rPr>
              <a:t>EEGNet, FBCNet, etc.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ECBE95-E631-E29A-3A59-754BA1FC51EF}"/>
              </a:ext>
            </a:extLst>
          </p:cNvPr>
          <p:cNvSpPr txBox="1"/>
          <p:nvPr/>
        </p:nvSpPr>
        <p:spPr>
          <a:xfrm>
            <a:off x="3342011" y="4924521"/>
            <a:ext cx="218573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600" b="1" i="0" dirty="0">
                <a:effectLst/>
                <a:latin typeface="Inter"/>
              </a:rPr>
              <a:t>Training</a:t>
            </a:r>
          </a:p>
          <a:p>
            <a:pPr algn="ctr">
              <a:spcBef>
                <a:spcPts val="300"/>
              </a:spcBef>
              <a:buNone/>
            </a:pPr>
            <a:r>
              <a:rPr lang="en-IN" sz="1600" b="0" i="0" dirty="0">
                <a:effectLst/>
                <a:latin typeface="Inter"/>
              </a:rPr>
              <a:t>Stratified K-Fold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52165EB-6E0E-72FA-CF90-783A776E134A}"/>
              </a:ext>
            </a:extLst>
          </p:cNvPr>
          <p:cNvSpPr txBox="1"/>
          <p:nvPr/>
        </p:nvSpPr>
        <p:spPr>
          <a:xfrm>
            <a:off x="6095999" y="4917058"/>
            <a:ext cx="2188817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600" b="1" i="0" dirty="0">
                <a:effectLst/>
                <a:latin typeface="Inter"/>
              </a:rPr>
              <a:t>Evaluation</a:t>
            </a:r>
          </a:p>
          <a:p>
            <a:pPr algn="ctr">
              <a:spcBef>
                <a:spcPts val="300"/>
              </a:spcBef>
              <a:buNone/>
            </a:pPr>
            <a:r>
              <a:rPr lang="en-IN" sz="1600" b="0" i="0" dirty="0">
                <a:effectLst/>
                <a:latin typeface="Inter"/>
              </a:rPr>
              <a:t>Accuracy, F1, AUC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5D77751-F212-876C-024A-9004B0548797}"/>
              </a:ext>
            </a:extLst>
          </p:cNvPr>
          <p:cNvSpPr txBox="1"/>
          <p:nvPr/>
        </p:nvSpPr>
        <p:spPr>
          <a:xfrm>
            <a:off x="8853070" y="4913504"/>
            <a:ext cx="2202658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600" b="1" i="0" dirty="0">
                <a:effectLst/>
                <a:latin typeface="Inter"/>
              </a:rPr>
              <a:t>Comparative Analysis</a:t>
            </a:r>
          </a:p>
          <a:p>
            <a:pPr algn="ctr">
              <a:spcBef>
                <a:spcPts val="300"/>
              </a:spcBef>
              <a:buNone/>
            </a:pPr>
            <a:r>
              <a:rPr lang="en-IN" sz="1600" b="0" i="0" dirty="0">
                <a:effectLst/>
                <a:latin typeface="Inter"/>
              </a:rPr>
              <a:t>Model Benchmarking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104F2235-9E47-DD63-25E9-013FC02FE490}"/>
              </a:ext>
            </a:extLst>
          </p:cNvPr>
          <p:cNvPicPr>
            <a:picLocks noChangeAspect="1"/>
          </p:cNvPicPr>
          <p:nvPr/>
        </p:nvPicPr>
        <p:blipFill>
          <a:blip r:embed="rId1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324" y="4706029"/>
            <a:ext cx="232794" cy="232794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C2E4F2B-25E5-317B-9137-D16830EB0EA6}"/>
              </a:ext>
            </a:extLst>
          </p:cNvPr>
          <p:cNvPicPr>
            <a:picLocks noChangeAspect="1"/>
          </p:cNvPicPr>
          <p:nvPr/>
        </p:nvPicPr>
        <p:blipFill>
          <a:blip r:embed="rId1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8556" y="4711198"/>
            <a:ext cx="232794" cy="232794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D901301F-A328-14AE-C048-8036433B28E9}"/>
              </a:ext>
            </a:extLst>
          </p:cNvPr>
          <p:cNvPicPr>
            <a:picLocks noChangeAspect="1"/>
          </p:cNvPicPr>
          <p:nvPr/>
        </p:nvPicPr>
        <p:blipFill>
          <a:blip r:embed="rId1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1788" y="4714455"/>
            <a:ext cx="232794" cy="23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932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BC236-2F7F-A54F-32D2-1ABB7643E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9CA9C9C-D0F9-8EA6-F85E-05F34B0D0366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Metadata Creation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B3879F9-F87A-A655-1D3D-72F972BDCA11}"/>
              </a:ext>
            </a:extLst>
          </p:cNvPr>
          <p:cNvCxnSpPr>
            <a:cxnSpLocks/>
          </p:cNvCxnSpPr>
          <p:nvPr/>
        </p:nvCxnSpPr>
        <p:spPr>
          <a:xfrm>
            <a:off x="2886419" y="1020357"/>
            <a:ext cx="879296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4FAD884-2D91-CBC2-B997-37A91AC6D289}"/>
              </a:ext>
            </a:extLst>
          </p:cNvPr>
          <p:cNvSpPr txBox="1"/>
          <p:nvPr/>
        </p:nvSpPr>
        <p:spPr>
          <a:xfrm>
            <a:off x="263234" y="1552449"/>
            <a:ext cx="11416148" cy="2545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Extracted subject IDs from the BIDS dataset structure.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Labels mapped as: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Aptos Display" panose="020B0004020202020204" pitchFamily="34" charset="0"/>
              </a:rPr>
              <a:t>AD = 0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Aptos Display" panose="020B0004020202020204" pitchFamily="34" charset="0"/>
              </a:rPr>
              <a:t>CN = 1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Aptos Display" panose="020B0004020202020204" pitchFamily="34" charset="0"/>
              </a:rPr>
              <a:t>FTD = 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Created subject_metadata.csv for downstream processing.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59BDE57-EA1E-1A59-F258-335A171EE81D}"/>
              </a:ext>
            </a:extLst>
          </p:cNvPr>
          <p:cNvSpPr/>
          <p:nvPr/>
        </p:nvSpPr>
        <p:spPr>
          <a:xfrm>
            <a:off x="2148289" y="4237146"/>
            <a:ext cx="8075364" cy="1972586"/>
          </a:xfrm>
          <a:prstGeom prst="roundRect">
            <a:avLst/>
          </a:prstGeom>
          <a:solidFill>
            <a:srgbClr val="111E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E9D992-37B1-A658-E357-6E08F2176E0A}"/>
              </a:ext>
            </a:extLst>
          </p:cNvPr>
          <p:cNvSpPr txBox="1"/>
          <p:nvPr/>
        </p:nvSpPr>
        <p:spPr>
          <a:xfrm>
            <a:off x="2332822" y="4848582"/>
            <a:ext cx="8630464" cy="1082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800"/>
              </a:spcAft>
              <a:buNone/>
            </a:pPr>
            <a:r>
              <a:rPr lang="en-IN" sz="1600" kern="0" dirty="0" err="1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subject_id</a:t>
            </a:r>
            <a:r>
              <a:rPr lang="en-IN" sz="1600" kern="0" dirty="0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label, </a:t>
            </a:r>
            <a:r>
              <a:rPr lang="en-IN" sz="1600" kern="0" dirty="0" err="1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class_name</a:t>
            </a:r>
            <a:r>
              <a:rPr lang="en-IN" sz="1600" kern="0" dirty="0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IN" sz="1600" kern="0" dirty="0" err="1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eeg_file</a:t>
            </a:r>
            <a:endParaRPr lang="en-IN" sz="1600" kern="0" dirty="0">
              <a:solidFill>
                <a:schemeClr val="bg1"/>
              </a:solidFill>
              <a:latin typeface="Aptos Display" panose="020B000402020202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lnSpc>
                <a:spcPts val="1300"/>
              </a:lnSpc>
              <a:spcAft>
                <a:spcPts val="800"/>
              </a:spcAft>
              <a:buNone/>
            </a:pPr>
            <a:r>
              <a:rPr lang="en-IN" sz="1600" kern="0" dirty="0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sub-001, 0, AD, data\raw\ds004504\sub-001\</a:t>
            </a:r>
            <a:r>
              <a:rPr lang="en-IN" sz="1600" kern="0" dirty="0" err="1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eeg</a:t>
            </a:r>
            <a:r>
              <a:rPr lang="en-IN" sz="1600" kern="0" dirty="0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\sub-001_task-eyesclosed_eeg.set</a:t>
            </a:r>
          </a:p>
          <a:p>
            <a:pPr>
              <a:lnSpc>
                <a:spcPts val="1300"/>
              </a:lnSpc>
              <a:spcAft>
                <a:spcPts val="800"/>
              </a:spcAft>
              <a:buNone/>
            </a:pPr>
            <a:r>
              <a:rPr lang="en-IN" sz="1600" kern="0" dirty="0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sub-037, 1, CN, data\raw\ds004504\sub-037\</a:t>
            </a:r>
            <a:r>
              <a:rPr lang="en-IN" sz="1600" kern="0" dirty="0" err="1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eeg</a:t>
            </a:r>
            <a:r>
              <a:rPr lang="en-IN" sz="1600" kern="0" dirty="0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\sub-037_task-eyesclosed_eeg.set</a:t>
            </a:r>
          </a:p>
          <a:p>
            <a:pPr>
              <a:lnSpc>
                <a:spcPts val="1300"/>
              </a:lnSpc>
              <a:spcAft>
                <a:spcPts val="800"/>
              </a:spcAft>
              <a:buNone/>
            </a:pPr>
            <a:r>
              <a:rPr lang="en-IN" sz="1600" kern="0" dirty="0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sub-066, 2, FTD, data\raw\ds004504\sub-066\</a:t>
            </a:r>
            <a:r>
              <a:rPr lang="en-IN" sz="1600" kern="0" dirty="0" err="1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eeg</a:t>
            </a:r>
            <a:r>
              <a:rPr lang="en-IN" sz="1600" kern="0" dirty="0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\sub-066_task-eyesclosed_eeg.set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137F6A-554E-EC26-5C6C-12D53936F01B}"/>
              </a:ext>
            </a:extLst>
          </p:cNvPr>
          <p:cNvSpPr txBox="1"/>
          <p:nvPr/>
        </p:nvSpPr>
        <p:spPr>
          <a:xfrm>
            <a:off x="2332822" y="4373208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0B050"/>
                </a:solidFill>
                <a:effectLst/>
                <a:latin typeface="Aptos Display" panose="020B0004020202020204" pitchFamily="34" charset="0"/>
              </a:rPr>
              <a:t>// subject_metadata.csv preview</a:t>
            </a:r>
            <a:endParaRPr lang="en-IN" dirty="0">
              <a:solidFill>
                <a:srgbClr val="00B050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85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C3FBA-DAC3-6A44-D5F4-79E0E7EC7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411B38D-F9B1-5B9C-3A46-73BA839DCDA6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Preprocessing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717E3B-14CA-A6A0-872D-C9511F2EE29E}"/>
              </a:ext>
            </a:extLst>
          </p:cNvPr>
          <p:cNvCxnSpPr>
            <a:cxnSpLocks/>
          </p:cNvCxnSpPr>
          <p:nvPr/>
        </p:nvCxnSpPr>
        <p:spPr>
          <a:xfrm>
            <a:off x="2357610" y="1020357"/>
            <a:ext cx="9321772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F4214B5C-189B-97DD-38C2-0BF8F98B27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289" b="5472"/>
          <a:stretch>
            <a:fillRect/>
          </a:stretch>
        </p:blipFill>
        <p:spPr>
          <a:xfrm>
            <a:off x="6096000" y="1648016"/>
            <a:ext cx="5036211" cy="377231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C272AD3-B1B0-90B0-FB3D-BA4BCD8F533C}"/>
              </a:ext>
            </a:extLst>
          </p:cNvPr>
          <p:cNvSpPr txBox="1"/>
          <p:nvPr/>
        </p:nvSpPr>
        <p:spPr>
          <a:xfrm>
            <a:off x="263234" y="1552449"/>
            <a:ext cx="4826559" cy="251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ptos Display" panose="020B0004020202020204" pitchFamily="34" charset="0"/>
              </a:rPr>
              <a:t>Steps for EEG Preprocessing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Raw EEG Data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Band-pass Filtering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Segmentation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Artifact Rejection</a:t>
            </a:r>
          </a:p>
        </p:txBody>
      </p:sp>
    </p:spTree>
    <p:extLst>
      <p:ext uri="{BB962C8B-B14F-4D97-AF65-F5344CB8AC3E}">
        <p14:creationId xmlns:p14="http://schemas.microsoft.com/office/powerpoint/2010/main" val="3420011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9ECB2-CAC5-FCA6-9B4A-0F80E911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3DCFCF3-721D-D67D-6E48-D0549D7A67C7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EEG Band-pass Filtering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C65234-DC5D-D57F-0D58-A6322892EE41}"/>
              </a:ext>
            </a:extLst>
          </p:cNvPr>
          <p:cNvCxnSpPr>
            <a:cxnSpLocks/>
          </p:cNvCxnSpPr>
          <p:nvPr/>
        </p:nvCxnSpPr>
        <p:spPr>
          <a:xfrm>
            <a:off x="3635566" y="1020357"/>
            <a:ext cx="804381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70F1AF3-B251-040F-0ED7-318EEE7BEE43}"/>
              </a:ext>
            </a:extLst>
          </p:cNvPr>
          <p:cNvSpPr txBox="1"/>
          <p:nvPr/>
        </p:nvSpPr>
        <p:spPr>
          <a:xfrm>
            <a:off x="263234" y="1552449"/>
            <a:ext cx="114161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ptos Display" panose="020B0004020202020204" pitchFamily="34" charset="0"/>
              </a:rPr>
              <a:t>Filtering</a:t>
            </a:r>
          </a:p>
          <a:p>
            <a:r>
              <a:rPr lang="en-US" dirty="0">
                <a:latin typeface="Aptos Display" panose="020B0004020202020204" pitchFamily="34" charset="0"/>
              </a:rPr>
              <a:t>	- Band-pass: 0.5 – 45 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ptos Display" panose="020B0004020202020204" pitchFamily="34" charset="0"/>
              </a:rPr>
              <a:t>Sampling </a:t>
            </a:r>
            <a:r>
              <a:rPr lang="en-US" b="1" dirty="0" err="1">
                <a:latin typeface="Aptos Display" panose="020B0004020202020204" pitchFamily="34" charset="0"/>
              </a:rPr>
              <a:t>Frequncy</a:t>
            </a:r>
            <a:endParaRPr lang="en-US" b="1" dirty="0">
              <a:latin typeface="Aptos Display" panose="020B0004020202020204" pitchFamily="34" charset="0"/>
            </a:endParaRPr>
          </a:p>
          <a:p>
            <a:r>
              <a:rPr lang="en-US" dirty="0">
                <a:latin typeface="Aptos Display" panose="020B0004020202020204" pitchFamily="34" charset="0"/>
              </a:rPr>
              <a:t>	- Frequency: 500 Hz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557B93-5C4A-BA34-B68E-5F1C06FA3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54" y="3429000"/>
            <a:ext cx="5396846" cy="26612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CC82EB-FE41-C0E3-1CC9-08C1EDA2C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535" y="3404358"/>
            <a:ext cx="5396847" cy="268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358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7A9F0-629C-FD03-9998-558760207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99749C-37F7-9F64-75DA-9EA147BCE761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Epoch Segmentation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BBA966-3946-0679-F28D-661873B6F0BE}"/>
              </a:ext>
            </a:extLst>
          </p:cNvPr>
          <p:cNvCxnSpPr>
            <a:cxnSpLocks/>
          </p:cNvCxnSpPr>
          <p:nvPr/>
        </p:nvCxnSpPr>
        <p:spPr>
          <a:xfrm>
            <a:off x="3216925" y="1020357"/>
            <a:ext cx="846245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BED403C-A86F-1DA6-E461-D949CADE3A4F}"/>
              </a:ext>
            </a:extLst>
          </p:cNvPr>
          <p:cNvSpPr txBox="1"/>
          <p:nvPr/>
        </p:nvSpPr>
        <p:spPr>
          <a:xfrm>
            <a:off x="263234" y="1552449"/>
            <a:ext cx="11416148" cy="16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The filtered EEG was split into fixed 4-second parts.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These small parts are called epochs.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This makes feature extraction easier and consistent.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6F895C-5868-DB25-FB2E-D5C0EC72D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288" y="3429000"/>
            <a:ext cx="7206535" cy="328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588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6C55D-5829-0EFE-3058-C82125F52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3460D3F-626F-5DEC-8ACD-F7906B24A0F0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Artifact Rejection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5AC918-2382-769F-57E1-35EBBEEEE1B5}"/>
              </a:ext>
            </a:extLst>
          </p:cNvPr>
          <p:cNvCxnSpPr>
            <a:cxnSpLocks/>
          </p:cNvCxnSpPr>
          <p:nvPr/>
        </p:nvCxnSpPr>
        <p:spPr>
          <a:xfrm>
            <a:off x="2765234" y="1020357"/>
            <a:ext cx="891414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211078C-E7C8-F603-0F93-0D08C055A6EA}"/>
              </a:ext>
            </a:extLst>
          </p:cNvPr>
          <p:cNvSpPr txBox="1"/>
          <p:nvPr/>
        </p:nvSpPr>
        <p:spPr>
          <a:xfrm>
            <a:off x="263234" y="1552449"/>
            <a:ext cx="11416148" cy="2787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Bad epochs were removed.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Rules used:</a:t>
            </a:r>
          </a:p>
          <a:p>
            <a:pPr marL="742950" lvl="1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Aptos Display" panose="020B0004020202020204" pitchFamily="34" charset="0"/>
              </a:rPr>
              <a:t>amplitude threshold: +/-150 </a:t>
            </a:r>
            <a:r>
              <a:rPr lang="en-US" dirty="0" err="1">
                <a:latin typeface="Aptos Display" panose="020B0004020202020204" pitchFamily="34" charset="0"/>
              </a:rPr>
              <a:t>uV</a:t>
            </a:r>
            <a:endParaRPr lang="en-US" dirty="0">
              <a:latin typeface="Aptos Display" panose="020B0004020202020204" pitchFamily="34" charset="0"/>
            </a:endParaRPr>
          </a:p>
          <a:p>
            <a:pPr marL="742950" lvl="1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Aptos Display" panose="020B0004020202020204" pitchFamily="34" charset="0"/>
              </a:rPr>
              <a:t>high-frequency check: 20-45 Hz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This helps keep only cleaner EEG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61A342-A8B6-1168-B036-77E938649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565" y="2788630"/>
            <a:ext cx="6411817" cy="375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311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6FF5D-F563-3B10-29AC-EA4774A00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6AB901F-C5EE-F844-D7F4-C9E0CD92BA93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Preprocessing Output Example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F63939-DEF7-9FDC-46FA-5F8BE97D833C}"/>
              </a:ext>
            </a:extLst>
          </p:cNvPr>
          <p:cNvCxnSpPr>
            <a:cxnSpLocks/>
          </p:cNvCxnSpPr>
          <p:nvPr/>
        </p:nvCxnSpPr>
        <p:spPr>
          <a:xfrm>
            <a:off x="4516916" y="1020357"/>
            <a:ext cx="716246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C2E647C-D8CD-2C2F-5665-434EA877F78D}"/>
              </a:ext>
            </a:extLst>
          </p:cNvPr>
          <p:cNvSpPr txBox="1"/>
          <p:nvPr/>
        </p:nvSpPr>
        <p:spPr>
          <a:xfrm>
            <a:off x="263234" y="1552449"/>
            <a:ext cx="11416148" cy="2787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Sample subject: sub-001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Sampling frequency: 500 Hz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Channels: 19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Retained epochs: 138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Epoch shape: (138, 19, 2000)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C0BAC4-5034-3669-5F5E-D8DE26466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0482" y="1939498"/>
            <a:ext cx="8098900" cy="298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010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78883-8626-4A5A-78DE-D65B653E4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3F6A85A-CC4A-705B-B48A-0F0CA8BDF123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Feature Extraction: Welch PSD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3A58BC-DA18-3F21-B53C-9574E5A3C50C}"/>
              </a:ext>
            </a:extLst>
          </p:cNvPr>
          <p:cNvCxnSpPr>
            <a:cxnSpLocks/>
          </p:cNvCxnSpPr>
          <p:nvPr/>
        </p:nvCxnSpPr>
        <p:spPr>
          <a:xfrm>
            <a:off x="4461831" y="1020357"/>
            <a:ext cx="72175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F2B1055-9B74-D25B-32F0-2F08A36BF48A}"/>
              </a:ext>
            </a:extLst>
          </p:cNvPr>
          <p:cNvSpPr txBox="1"/>
          <p:nvPr/>
        </p:nvSpPr>
        <p:spPr>
          <a:xfrm>
            <a:off x="263234" y="1552449"/>
            <a:ext cx="5832766" cy="420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Welch PSD was used to convert EEG into frequency-domain features.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It shows how signal power is distributed across frequencies.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EEG analyzed from 1 Hz to 45 Hz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Relative normalization was applied.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Output shape example: (138, 19, 89)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Aptos Display" panose="020B0004020202020204" pitchFamily="34" charset="0"/>
              </a:rPr>
              <a:t>138 epochs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Aptos Display" panose="020B0004020202020204" pitchFamily="34" charset="0"/>
              </a:rPr>
              <a:t>19 channels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Aptos Display" panose="020B0004020202020204" pitchFamily="34" charset="0"/>
              </a:rPr>
              <a:t>89 frequency bins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D598B3-A80E-BFDA-AED8-AA30CC7CB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268" y="1273004"/>
            <a:ext cx="5299114" cy="27020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717F42-5288-84F3-17BF-E1818D79F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1247" y="3975077"/>
            <a:ext cx="6338136" cy="280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509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F9476-23F3-F11F-4573-5E5B5A0BB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8221C8E-0D92-7E60-A47C-962D4F5E011B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Full Dataset 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F33AD2-48B4-A898-7E97-705E8C8508A2}"/>
              </a:ext>
            </a:extLst>
          </p:cNvPr>
          <p:cNvCxnSpPr>
            <a:cxnSpLocks/>
          </p:cNvCxnSpPr>
          <p:nvPr/>
        </p:nvCxnSpPr>
        <p:spPr>
          <a:xfrm>
            <a:off x="3166281" y="1020357"/>
            <a:ext cx="851310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1279186-E45E-F903-1DD4-C29B88510DAC}"/>
              </a:ext>
            </a:extLst>
          </p:cNvPr>
          <p:cNvSpPr txBox="1"/>
          <p:nvPr/>
        </p:nvSpPr>
        <p:spPr>
          <a:xfrm>
            <a:off x="263234" y="1552449"/>
            <a:ext cx="2903047" cy="3376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Total subjects found: 88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Successfully processed: 88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Failed subjects: 0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Total rejected epochs: 3244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Average epochs per subject: 163.18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B821E8-3BE3-72EE-F4F0-F4D1A7D0F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730" y="4309230"/>
            <a:ext cx="4132169" cy="24732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BE7DFC-4BC8-60A5-B098-5158630F6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250" y="1273004"/>
            <a:ext cx="6807131" cy="303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199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78010-9D42-4499-70C7-1A9692CFF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31A331-F6DC-2009-BD03-096D188B8D61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Future Work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F02096-483D-C757-8630-7A1492B20A68}"/>
              </a:ext>
            </a:extLst>
          </p:cNvPr>
          <p:cNvCxnSpPr>
            <a:cxnSpLocks/>
          </p:cNvCxnSpPr>
          <p:nvPr/>
        </p:nvCxnSpPr>
        <p:spPr>
          <a:xfrm>
            <a:off x="2115403" y="1020357"/>
            <a:ext cx="956397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AD3D21E-79BA-B34D-2227-424883A5308E}"/>
              </a:ext>
            </a:extLst>
          </p:cNvPr>
          <p:cNvSpPr txBox="1"/>
          <p:nvPr/>
        </p:nvSpPr>
        <p:spPr>
          <a:xfrm>
            <a:off x="263234" y="1552449"/>
            <a:ext cx="11416148" cy="223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Prepare subject-wise train, validation, and test splits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Implement CNN models such as </a:t>
            </a:r>
            <a:r>
              <a:rPr lang="en-US" dirty="0" err="1">
                <a:latin typeface="Aptos Display" panose="020B0004020202020204" pitchFamily="34" charset="0"/>
              </a:rPr>
              <a:t>EEGNet</a:t>
            </a:r>
            <a:r>
              <a:rPr lang="en-US" dirty="0">
                <a:latin typeface="Aptos Display" panose="020B0004020202020204" pitchFamily="34" charset="0"/>
              </a:rPr>
              <a:t>, ShallowConvNet, </a:t>
            </a:r>
            <a:r>
              <a:rPr lang="en-US" dirty="0" err="1">
                <a:latin typeface="Aptos Display" panose="020B0004020202020204" pitchFamily="34" charset="0"/>
              </a:rPr>
              <a:t>DeepConvNet</a:t>
            </a:r>
            <a:r>
              <a:rPr lang="en-US" dirty="0">
                <a:latin typeface="Aptos Display" panose="020B0004020202020204" pitchFamily="34" charset="0"/>
              </a:rPr>
              <a:t>, </a:t>
            </a:r>
            <a:r>
              <a:rPr lang="en-US" dirty="0" err="1">
                <a:latin typeface="Aptos Display" panose="020B0004020202020204" pitchFamily="34" charset="0"/>
              </a:rPr>
              <a:t>SCCNet</a:t>
            </a:r>
            <a:r>
              <a:rPr lang="en-US" dirty="0">
                <a:latin typeface="Aptos Display" panose="020B0004020202020204" pitchFamily="34" charset="0"/>
              </a:rPr>
              <a:t>, and </a:t>
            </a:r>
            <a:r>
              <a:rPr lang="en-US" dirty="0" err="1">
                <a:latin typeface="Aptos Display" panose="020B0004020202020204" pitchFamily="34" charset="0"/>
              </a:rPr>
              <a:t>FBCNet</a:t>
            </a:r>
            <a:endParaRPr lang="en-US" dirty="0">
              <a:latin typeface="Aptos Display" panose="020B00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Train and evaluate each model using the PSD features from Phase 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Compare model performance and identify the best architecture</a:t>
            </a:r>
            <a:endParaRPr lang="en-I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307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45B56-01FA-1DBB-633B-5788E1131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F205FE9-1E3A-F868-B881-6F5565F8AA28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References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2D39FE-A17B-E341-3C17-04A14CC04021}"/>
              </a:ext>
            </a:extLst>
          </p:cNvPr>
          <p:cNvCxnSpPr>
            <a:cxnSpLocks/>
          </p:cNvCxnSpPr>
          <p:nvPr/>
        </p:nvCxnSpPr>
        <p:spPr>
          <a:xfrm>
            <a:off x="1972019" y="1020357"/>
            <a:ext cx="970736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842676B-9889-2E74-016E-542AAF4EE293}"/>
              </a:ext>
            </a:extLst>
          </p:cNvPr>
          <p:cNvSpPr txBox="1"/>
          <p:nvPr/>
        </p:nvSpPr>
        <p:spPr>
          <a:xfrm>
            <a:off x="263234" y="1552449"/>
            <a:ext cx="11416148" cy="503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Aptos Display" panose="020B0004020202020204" pitchFamily="34" charset="0"/>
              </a:rPr>
              <a:t>Lawhern</a:t>
            </a:r>
            <a:r>
              <a:rPr lang="en-US" dirty="0">
                <a:latin typeface="Aptos Display" panose="020B0004020202020204" pitchFamily="34" charset="0"/>
              </a:rPr>
              <a:t>, V. J., Solon, A. J., </a:t>
            </a:r>
            <a:r>
              <a:rPr lang="en-US" dirty="0" err="1">
                <a:latin typeface="Aptos Display" panose="020B0004020202020204" pitchFamily="34" charset="0"/>
              </a:rPr>
              <a:t>Waytowich</a:t>
            </a:r>
            <a:r>
              <a:rPr lang="en-US" dirty="0">
                <a:latin typeface="Aptos Display" panose="020B0004020202020204" pitchFamily="34" charset="0"/>
              </a:rPr>
              <a:t>, N. R., Gordon, S. M., Hung, C. P., &amp; Lance, B. J. (2018). </a:t>
            </a:r>
            <a:r>
              <a:rPr lang="en-US" dirty="0" err="1">
                <a:latin typeface="Aptos Display" panose="020B0004020202020204" pitchFamily="34" charset="0"/>
              </a:rPr>
              <a:t>EEGNet</a:t>
            </a:r>
            <a:r>
              <a:rPr lang="en-US" dirty="0">
                <a:latin typeface="Aptos Display" panose="020B0004020202020204" pitchFamily="34" charset="0"/>
              </a:rPr>
              <a:t>: A Compact Convolutional Neural Network for EEG-based Brain–Computer Interfaces.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Aptos Display" panose="020B0004020202020204" pitchFamily="34" charset="0"/>
              </a:rPr>
              <a:t>Schirrmeister</a:t>
            </a:r>
            <a:r>
              <a:rPr lang="en-IN" dirty="0">
                <a:latin typeface="Aptos Display" panose="020B0004020202020204" pitchFamily="34" charset="0"/>
              </a:rPr>
              <a:t>, R. T., </a:t>
            </a:r>
            <a:r>
              <a:rPr lang="en-IN" dirty="0" err="1">
                <a:latin typeface="Aptos Display" panose="020B0004020202020204" pitchFamily="34" charset="0"/>
              </a:rPr>
              <a:t>Springenberg</a:t>
            </a:r>
            <a:r>
              <a:rPr lang="en-IN" dirty="0">
                <a:latin typeface="Aptos Display" panose="020B0004020202020204" pitchFamily="34" charset="0"/>
              </a:rPr>
              <a:t>, J. T., </a:t>
            </a:r>
            <a:r>
              <a:rPr lang="en-IN" dirty="0" err="1">
                <a:latin typeface="Aptos Display" panose="020B0004020202020204" pitchFamily="34" charset="0"/>
              </a:rPr>
              <a:t>Fiederer</a:t>
            </a:r>
            <a:r>
              <a:rPr lang="en-IN" dirty="0">
                <a:latin typeface="Aptos Display" panose="020B0004020202020204" pitchFamily="34" charset="0"/>
              </a:rPr>
              <a:t>, L. D., Glasstetter, M., </a:t>
            </a:r>
            <a:r>
              <a:rPr lang="en-IN" dirty="0" err="1">
                <a:latin typeface="Aptos Display" panose="020B0004020202020204" pitchFamily="34" charset="0"/>
              </a:rPr>
              <a:t>Eggensperger</a:t>
            </a:r>
            <a:r>
              <a:rPr lang="en-IN" dirty="0">
                <a:latin typeface="Aptos Display" panose="020B0004020202020204" pitchFamily="34" charset="0"/>
              </a:rPr>
              <a:t>, K., </a:t>
            </a:r>
            <a:r>
              <a:rPr lang="en-IN" dirty="0" err="1">
                <a:latin typeface="Aptos Display" panose="020B0004020202020204" pitchFamily="34" charset="0"/>
              </a:rPr>
              <a:t>Tangermann</a:t>
            </a:r>
            <a:r>
              <a:rPr lang="en-IN" dirty="0">
                <a:latin typeface="Aptos Display" panose="020B0004020202020204" pitchFamily="34" charset="0"/>
              </a:rPr>
              <a:t>, M., et al. (2017). Deep learning with convolutional neural networks for EEG decoding and visualization.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ptos Display" panose="020B0004020202020204" pitchFamily="34" charset="0"/>
              </a:rPr>
              <a:t>Hsu, Y. H., Chuang, Y. Y., &amp; Huang, C. Y. (2018). </a:t>
            </a:r>
            <a:r>
              <a:rPr lang="en-IN" dirty="0" err="1">
                <a:latin typeface="Aptos Display" panose="020B0004020202020204" pitchFamily="34" charset="0"/>
              </a:rPr>
              <a:t>SCCNet</a:t>
            </a:r>
            <a:r>
              <a:rPr lang="en-IN" dirty="0">
                <a:latin typeface="Aptos Display" panose="020B0004020202020204" pitchFamily="34" charset="0"/>
              </a:rPr>
              <a:t>: Spatial Component-wise Convolutional Network for Motor-Imagery EEG Classification.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ptos Display" panose="020B0004020202020204" pitchFamily="34" charset="0"/>
              </a:rPr>
              <a:t>Mane, R., Chew, E., Chua, K., Ang, K. K., Robinson, N., Vinod, A. P., &amp; Guan, C. (2021). </a:t>
            </a:r>
            <a:r>
              <a:rPr lang="en-IN" dirty="0" err="1">
                <a:latin typeface="Aptos Display" panose="020B0004020202020204" pitchFamily="34" charset="0"/>
              </a:rPr>
              <a:t>FBCNet</a:t>
            </a:r>
            <a:r>
              <a:rPr lang="en-IN" dirty="0">
                <a:latin typeface="Aptos Display" panose="020B0004020202020204" pitchFamily="34" charset="0"/>
              </a:rPr>
              <a:t>: A Multi-view Convolutional Neural Network for Brain-Computer Interface.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ptos Display" panose="020B0004020202020204" pitchFamily="34" charset="0"/>
              </a:rPr>
              <a:t>Welch, P. (1967). The use of fast Fourier transform for the estimation of power spectra: A method based on time averaging over short, modified periodograms.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Aptos Display" panose="020B0004020202020204" pitchFamily="34" charset="0"/>
              </a:rPr>
              <a:t>Miltiadous</a:t>
            </a:r>
            <a:r>
              <a:rPr lang="en-IN" dirty="0">
                <a:latin typeface="Aptos Display" panose="020B0004020202020204" pitchFamily="34" charset="0"/>
              </a:rPr>
              <a:t>, A., </a:t>
            </a:r>
            <a:r>
              <a:rPr lang="en-IN" dirty="0" err="1">
                <a:latin typeface="Aptos Display" panose="020B0004020202020204" pitchFamily="34" charset="0"/>
              </a:rPr>
              <a:t>Tzimourta</a:t>
            </a:r>
            <a:r>
              <a:rPr lang="en-IN" dirty="0">
                <a:latin typeface="Aptos Display" panose="020B0004020202020204" pitchFamily="34" charset="0"/>
              </a:rPr>
              <a:t>, K. D., Afrantou, T., </a:t>
            </a:r>
            <a:r>
              <a:rPr lang="en-IN" dirty="0" err="1">
                <a:latin typeface="Aptos Display" panose="020B0004020202020204" pitchFamily="34" charset="0"/>
              </a:rPr>
              <a:t>Giannakeas</a:t>
            </a:r>
            <a:r>
              <a:rPr lang="en-IN" dirty="0">
                <a:latin typeface="Aptos Display" panose="020B0004020202020204" pitchFamily="34" charset="0"/>
              </a:rPr>
              <a:t>, N., </a:t>
            </a:r>
            <a:r>
              <a:rPr lang="en-IN" dirty="0" err="1">
                <a:latin typeface="Aptos Display" panose="020B0004020202020204" pitchFamily="34" charset="0"/>
              </a:rPr>
              <a:t>Tzallas</a:t>
            </a:r>
            <a:r>
              <a:rPr lang="en-IN" dirty="0">
                <a:latin typeface="Aptos Display" panose="020B0004020202020204" pitchFamily="34" charset="0"/>
              </a:rPr>
              <a:t>, A. T., </a:t>
            </a:r>
            <a:r>
              <a:rPr lang="en-IN" dirty="0" err="1">
                <a:latin typeface="Aptos Display" panose="020B0004020202020204" pitchFamily="34" charset="0"/>
              </a:rPr>
              <a:t>Tsipouras</a:t>
            </a:r>
            <a:r>
              <a:rPr lang="en-IN" dirty="0">
                <a:latin typeface="Aptos Display" panose="020B0004020202020204" pitchFamily="34" charset="0"/>
              </a:rPr>
              <a:t>, M. G., &amp; </a:t>
            </a:r>
            <a:r>
              <a:rPr lang="en-IN" dirty="0" err="1">
                <a:latin typeface="Aptos Display" panose="020B0004020202020204" pitchFamily="34" charset="0"/>
              </a:rPr>
              <a:t>Tsalikakis</a:t>
            </a:r>
            <a:r>
              <a:rPr lang="en-IN" dirty="0">
                <a:latin typeface="Aptos Display" panose="020B0004020202020204" pitchFamily="34" charset="0"/>
              </a:rPr>
              <a:t>, D. (2023). A dataset of EEG recordings from Alzheimer’s disease, Frontotemporal Dementia and Healthy Subjects.</a:t>
            </a:r>
          </a:p>
        </p:txBody>
      </p:sp>
    </p:spTree>
    <p:extLst>
      <p:ext uri="{BB962C8B-B14F-4D97-AF65-F5344CB8AC3E}">
        <p14:creationId xmlns:p14="http://schemas.microsoft.com/office/powerpoint/2010/main" val="1725760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E6BD9-E439-FBB4-DF9E-E994F9105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10C7C6-5336-F211-88D3-B5428950B607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References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6394FDB-B2C6-BC96-7D4F-1F9EFB5AC649}"/>
              </a:ext>
            </a:extLst>
          </p:cNvPr>
          <p:cNvCxnSpPr>
            <a:cxnSpLocks/>
          </p:cNvCxnSpPr>
          <p:nvPr/>
        </p:nvCxnSpPr>
        <p:spPr>
          <a:xfrm>
            <a:off x="1972019" y="1020357"/>
            <a:ext cx="970736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95350CA-D067-8FA1-6302-CE1939321010}"/>
              </a:ext>
            </a:extLst>
          </p:cNvPr>
          <p:cNvSpPr txBox="1"/>
          <p:nvPr/>
        </p:nvSpPr>
        <p:spPr>
          <a:xfrm>
            <a:off x="263234" y="1552449"/>
            <a:ext cx="11416148" cy="4622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ptos Display" panose="020B0004020202020204" pitchFamily="34" charset="0"/>
              </a:rPr>
              <a:t>Cassani, R., Estarellas, M., San-Martín, R., Fraga, F. J., &amp; Falk, T. H. (2018). Systematic review on resting-state EEG for Alzheimer’s disease diagnosis.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Aptos Display" panose="020B0004020202020204" pitchFamily="34" charset="0"/>
              </a:rPr>
              <a:t>Tzimourta</a:t>
            </a:r>
            <a:r>
              <a:rPr lang="en-IN" dirty="0">
                <a:latin typeface="Aptos Display" panose="020B0004020202020204" pitchFamily="34" charset="0"/>
              </a:rPr>
              <a:t>, K. D., </a:t>
            </a:r>
            <a:r>
              <a:rPr lang="en-IN" dirty="0" err="1">
                <a:latin typeface="Aptos Display" panose="020B0004020202020204" pitchFamily="34" charset="0"/>
              </a:rPr>
              <a:t>Giannakeas</a:t>
            </a:r>
            <a:r>
              <a:rPr lang="en-IN" dirty="0">
                <a:latin typeface="Aptos Display" panose="020B0004020202020204" pitchFamily="34" charset="0"/>
              </a:rPr>
              <a:t>, N., </a:t>
            </a:r>
            <a:r>
              <a:rPr lang="en-IN" dirty="0" err="1">
                <a:latin typeface="Aptos Display" panose="020B0004020202020204" pitchFamily="34" charset="0"/>
              </a:rPr>
              <a:t>Tzallas</a:t>
            </a:r>
            <a:r>
              <a:rPr lang="en-IN" dirty="0">
                <a:latin typeface="Aptos Display" panose="020B0004020202020204" pitchFamily="34" charset="0"/>
              </a:rPr>
              <a:t>, A. T., </a:t>
            </a:r>
            <a:r>
              <a:rPr lang="en-IN" dirty="0" err="1">
                <a:latin typeface="Aptos Display" panose="020B0004020202020204" pitchFamily="34" charset="0"/>
              </a:rPr>
              <a:t>Tsipouras</a:t>
            </a:r>
            <a:r>
              <a:rPr lang="en-IN" dirty="0">
                <a:latin typeface="Aptos Display" panose="020B0004020202020204" pitchFamily="34" charset="0"/>
              </a:rPr>
              <a:t>, M. G., &amp; </a:t>
            </a:r>
            <a:r>
              <a:rPr lang="en-IN" dirty="0" err="1">
                <a:latin typeface="Aptos Display" panose="020B0004020202020204" pitchFamily="34" charset="0"/>
              </a:rPr>
              <a:t>Astrakas</a:t>
            </a:r>
            <a:r>
              <a:rPr lang="en-IN" dirty="0">
                <a:latin typeface="Aptos Display" panose="020B0004020202020204" pitchFamily="34" charset="0"/>
              </a:rPr>
              <a:t>, L. G. (2019). EEG-based detection of Alzheimer’s disease using machine learning techniques.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ptos Display" panose="020B0004020202020204" pitchFamily="34" charset="0"/>
              </a:rPr>
              <a:t>Fraga, F. J., Falk, T. H., Kanda, P. A. M., &amp; </a:t>
            </a:r>
            <a:r>
              <a:rPr lang="en-IN" dirty="0" err="1">
                <a:latin typeface="Aptos Display" panose="020B0004020202020204" pitchFamily="34" charset="0"/>
              </a:rPr>
              <a:t>Anghinah</a:t>
            </a:r>
            <a:r>
              <a:rPr lang="en-IN" dirty="0">
                <a:latin typeface="Aptos Display" panose="020B0004020202020204" pitchFamily="34" charset="0"/>
              </a:rPr>
              <a:t>, R. (2013). Characterizing Alzheimer’s disease severity using resting-awake EEG amplitude modulation analysis.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Aptos Display" panose="020B0004020202020204" pitchFamily="34" charset="0"/>
              </a:rPr>
              <a:t>Tzallas</a:t>
            </a:r>
            <a:r>
              <a:rPr lang="en-IN" dirty="0">
                <a:latin typeface="Aptos Display" panose="020B0004020202020204" pitchFamily="34" charset="0"/>
              </a:rPr>
              <a:t>, A. T., </a:t>
            </a:r>
            <a:r>
              <a:rPr lang="en-IN" dirty="0" err="1">
                <a:latin typeface="Aptos Display" panose="020B0004020202020204" pitchFamily="34" charset="0"/>
              </a:rPr>
              <a:t>Tsipouras</a:t>
            </a:r>
            <a:r>
              <a:rPr lang="en-IN" dirty="0">
                <a:latin typeface="Aptos Display" panose="020B0004020202020204" pitchFamily="34" charset="0"/>
              </a:rPr>
              <a:t>, M. G., &amp; Fotiadis, D. I. (2009). Epileptic seizure detection in EEG signals using time-frequency analysis.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ptos Display" panose="020B0004020202020204" pitchFamily="34" charset="0"/>
              </a:rPr>
              <a:t>Roy, Y., Banville, H., Albuquerque, I., </a:t>
            </a:r>
            <a:r>
              <a:rPr lang="en-IN" dirty="0" err="1">
                <a:latin typeface="Aptos Display" panose="020B0004020202020204" pitchFamily="34" charset="0"/>
              </a:rPr>
              <a:t>Gramfort</a:t>
            </a:r>
            <a:r>
              <a:rPr lang="en-IN" dirty="0">
                <a:latin typeface="Aptos Display" panose="020B0004020202020204" pitchFamily="34" charset="0"/>
              </a:rPr>
              <a:t>, A., Falk, T. H., &amp; Faubert, J. (2019). Deep learning-based electroencephalography analysis: a systematic review.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ptos Display" panose="020B0004020202020204" pitchFamily="34" charset="0"/>
              </a:rPr>
              <a:t>Craik, A., He, Y., &amp; Contreras-Vidal, J. L. (2019). Deep learning for electroencephalogram classification: a review.</a:t>
            </a:r>
          </a:p>
        </p:txBody>
      </p:sp>
    </p:spTree>
    <p:extLst>
      <p:ext uri="{BB962C8B-B14F-4D97-AF65-F5344CB8AC3E}">
        <p14:creationId xmlns:p14="http://schemas.microsoft.com/office/powerpoint/2010/main" val="2070238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0EC92-D71A-8C22-EFF9-B451FB9C5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2833D3F-0D4E-24A8-85AB-E8887498E735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End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422DFC0-AD20-309B-6D86-AE69885E6C84}"/>
              </a:ext>
            </a:extLst>
          </p:cNvPr>
          <p:cNvCxnSpPr>
            <a:cxnSpLocks/>
          </p:cNvCxnSpPr>
          <p:nvPr/>
        </p:nvCxnSpPr>
        <p:spPr>
          <a:xfrm>
            <a:off x="1002535" y="1020357"/>
            <a:ext cx="1067684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F15A3F0D-AAD7-DD85-D3EC-2A383E05A27C}"/>
              </a:ext>
            </a:extLst>
          </p:cNvPr>
          <p:cNvSpPr txBox="1">
            <a:spLocks/>
          </p:cNvSpPr>
          <p:nvPr/>
        </p:nvSpPr>
        <p:spPr>
          <a:xfrm>
            <a:off x="581192" y="2834640"/>
            <a:ext cx="11029616" cy="11887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Aptos Display" panose="020B0004020202020204" pitchFamily="34" charset="0"/>
              </a:rPr>
              <a:t>Thank You</a:t>
            </a:r>
            <a:endParaRPr lang="en-US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542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1339</TotalTime>
  <Words>1278</Words>
  <Application>Microsoft Office PowerPoint</Application>
  <PresentationFormat>Widescreen</PresentationFormat>
  <Paragraphs>188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 Display</vt:lpstr>
      <vt:lpstr>Arial</vt:lpstr>
      <vt:lpstr>Calibri</vt:lpstr>
      <vt:lpstr>Calibri Light</vt:lpstr>
      <vt:lpstr>Courier New</vt:lpstr>
      <vt:lpstr>Inter</vt:lpstr>
      <vt:lpstr>Office Theme</vt:lpstr>
      <vt:lpstr>Comparative Evaluation of CNN Models for Alzheimer’s Detection using Frequency-Domain EEG Features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Jediael Blah</dc:creator>
  <cp:lastModifiedBy>Jediael Blah</cp:lastModifiedBy>
  <cp:revision>8</cp:revision>
  <dcterms:created xsi:type="dcterms:W3CDTF">2026-03-19T11:24:12Z</dcterms:created>
  <dcterms:modified xsi:type="dcterms:W3CDTF">2026-03-20T10:04:21Z</dcterms:modified>
</cp:coreProperties>
</file>