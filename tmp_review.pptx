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6" r:id="rId17"/>
    <p:sldId id="274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E35"/>
    <a:srgbClr val="00CC00"/>
    <a:srgbClr val="1B3055"/>
    <a:srgbClr val="003300"/>
    <a:srgbClr val="007BB8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2026%20MTECH%20Project\alz_project\results\figures\figure_numeric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r>
              <a:rPr lang="en-US" sz="1800" b="1">
                <a:solidFill>
                  <a:schemeClr val="tx1"/>
                </a:solidFill>
                <a:latin typeface="Aptos Display" panose="020B0004020202020204" pitchFamily="34" charset="0"/>
              </a:rPr>
              <a:t>Class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'02_class_distribution'!$B$1</c:f>
              <c:strCache>
                <c:ptCount val="1"/>
                <c:pt idx="0">
                  <c:v>subject_count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F1-4B4D-9B00-E89C16835D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F1-4B4D-9B00-E89C16835DE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F1-4B4D-9B00-E89C16835DE2}"/>
              </c:ext>
            </c:extLst>
          </c:dPt>
          <c:dLbls>
            <c:dLbl>
              <c:idx val="0"/>
              <c:layout>
                <c:manualLayout>
                  <c:x val="0.15555555555555556"/>
                  <c:y val="5.5555555555555552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F1-4B4D-9B00-E89C16835DE2}"/>
                </c:ext>
              </c:extLst>
            </c:dLbl>
            <c:dLbl>
              <c:idx val="1"/>
              <c:layout>
                <c:manualLayout>
                  <c:x val="-0.24166666666666667"/>
                  <c:y val="-8.4875562720133283E-17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F1-4B4D-9B00-E89C16835DE2}"/>
                </c:ext>
              </c:extLst>
            </c:dLbl>
            <c:dLbl>
              <c:idx val="2"/>
              <c:layout>
                <c:manualLayout>
                  <c:x val="-0.21388888888888888"/>
                  <c:y val="0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F1-4B4D-9B00-E89C16835DE2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ptos Display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'02_class_distribution'!$A$2:$A$4</c:f>
              <c:strCache>
                <c:ptCount val="3"/>
                <c:pt idx="0">
                  <c:v>AD</c:v>
                </c:pt>
                <c:pt idx="1">
                  <c:v>CN</c:v>
                </c:pt>
                <c:pt idx="2">
                  <c:v>FTD</c:v>
                </c:pt>
              </c:strCache>
            </c:strRef>
          </c:cat>
          <c:val>
            <c:numRef>
              <c:f>'02_class_distribution'!$B$2:$B$4</c:f>
              <c:numCache>
                <c:formatCode>General</c:formatCode>
                <c:ptCount val="3"/>
                <c:pt idx="0">
                  <c:v>36</c:v>
                </c:pt>
                <c:pt idx="1">
                  <c:v>29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F1-4B4D-9B00-E89C16835D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913F-F8C0-419A-98D0-EEDA8748CDBA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84583-3B2B-401C-9B69-FE75DC4674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0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50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A178-9569-7D63-6460-78DABB7C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C24B7-E0E2-828D-A14A-30FF42A3A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30BF6-C424-6A42-ABD5-3D1150AC1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2FCF-8F7B-FD41-3C09-58652AE56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1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D802-CBB8-8EE3-039A-C00BA458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6A6FB-62F3-DDD7-E973-D409580B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3BFBB-C6C2-1C75-6839-602A5BE9C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A886-2A13-DE73-3DE7-89391086B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00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D7C0-C5F3-2ECD-A54B-50AEA959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2ACE5-F9D6-F24D-4D9A-652DF353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C60B2-F7A3-EF53-E456-161FDF265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AB83-F2E8-B488-46DF-92E8C33E4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382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A7B7-163B-7DB6-CE82-64F7EE49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AF11E-1CDE-646E-D945-170537796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2C136-D93A-CBD6-2A2B-A7EAA8457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6D953-4F57-7607-891E-079C94A32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74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5B4C-8158-A7C1-4970-01CAF3D7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E9050-1836-0537-0E7D-46A9FD7F3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BD049-ADCA-B157-6FD3-D2142493F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8F868-9A2F-ECCA-46EA-A38C86514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87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CB85-58C3-1125-D0F6-AA2632C0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5B702-A4CF-7AC7-22AA-43004BC20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3A44B-9334-C0EF-827E-FD0EA0C1E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E2DB-A94B-C61C-3C78-821DABA7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042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D5C4-0164-DC8D-B1DB-4EA0AE82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3946C-E351-1026-AC5E-604B6F4F0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BB654-675F-70B8-1FC1-D135576D0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75C82-4E32-73C4-FE78-15A3B834E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32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28D0-015A-5E0F-7D25-DE96D938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4524D-3B4E-7F55-A113-A942DE3F6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4629E-D5B1-8FCE-8FD4-47A259CCA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B7E8E-41EE-29E2-835A-50F6739DE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12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8095-AF2E-EC58-3377-637C1E6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ABD4D-CC19-8067-10DD-EFF8C67F0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F2924-778B-3867-8ADD-39DED8EFD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99C11-91BE-5BD7-5A15-049B8EABF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69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1EAC-B406-1688-3DF2-832F3B0F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D3849-8035-BC13-F909-E2BCC168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447C0-79D1-BC84-0997-80EA7761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CAC41-D1B0-BCF0-6527-A5159492D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47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45DB-316B-E151-0FD3-247BE42F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45EB7-58AA-1A7D-35CA-8E5597B18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58146-93B3-B470-3FDC-3E5864DF2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1A05-C7E8-6EFA-02C2-6DE2A1CD0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64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8EFD-1557-7890-29D6-6B688CA9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48F59-5B67-EF4D-7E74-1E5C8A02D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037A6-A2DF-3D88-83E7-021C05B08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A6147-F0A3-5B67-3035-3063CBD4E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79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197BD-62B2-F783-14BC-6550769F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D2B89-D5D8-9427-F988-7A3D4BC04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3DE4A-7BE3-924E-72F0-1FA7E328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1520B-0543-3104-2D1C-44EF5D490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34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A2D7-BF3A-F304-0569-8E7B0912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F4DE8-9619-5B9E-4E5F-53524F22B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88610-180C-AD02-E2A3-E1F313E36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DBD7-722B-E320-1895-AE76FBE1E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515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DAE2-20B3-317A-4E7D-37B5CFBD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54713-80D7-25C7-19C7-EB61493EA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62A99-B079-295C-DA2B-A581C1CF7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57BF8-DF32-314E-AFF8-C01521C68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52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4ECA-D0C0-FD07-813A-8FA8C65C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15F5D-4232-96AE-3058-5C54225EE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96918-21FD-E12C-3693-F171CF930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EA07-4410-ACFD-46B2-FBA40A95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41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C86D-F7A1-6F4D-84AD-CFDC1318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A5E71-8E57-BDC7-3796-5D0F6C338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66F6B-9E5F-4123-57CF-9751DEB19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804D-49FB-D164-3D0A-64144AEB0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26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3A62D-1B47-FE48-127E-BC590DDF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A45BF-31E8-8ACD-279F-01B5DFCA5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10B6-659B-7EB7-0137-006ACA101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7A607-6429-176B-7675-0CB387C72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84583-3B2B-401C-9B69-FE75DC4674A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811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7714-3072-CC37-09F7-E4EB7457C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014BE-8D51-FA20-ACA9-13895C81F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9BFB6-5CF1-7627-BA36-12B96EFD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91143-5D14-C875-75F4-C2F906DD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185A-1F7A-23AC-EF7A-8EC4F4C5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8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F931-16F3-4C60-EFB1-2C7513CF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209F-CBC1-4A03-2732-A71FA8A3C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8192-C40B-4738-3CE7-D6625298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3E43C-5D1C-9C55-1379-28EEA9ED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B212-FD29-7785-686F-C39E03BF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61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90E3-9AF7-F82C-7A3D-FDA02A37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73D92-9392-855A-0CF1-D2A25D1E2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A5189-93D6-EFB8-3903-C619602B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A6024-C0CA-AF12-5F2A-D8413163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C2D4-B4F3-2D12-B34C-3883DF2E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9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2765-C29F-35BF-F326-CF0067FD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08F4F-9018-C3D5-5361-CC80F0756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994A2-6CCC-4957-A4BA-B7A0B55E5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525D4-8A87-31FE-2A2E-7A327ACC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594C-8B4C-6F96-A3B7-C76DA96A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66C92-F56F-2728-0D8A-7481C0DC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4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5B38-269E-D0A6-9394-8F07D76B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80F09-36E8-92F3-A9E3-D224FDFE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6D18A-6625-F7DC-6271-123D327D9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5F90B-80CC-E09B-9DFE-E2D2F2DBB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57E91-BF10-C9F3-1D4D-691E75FED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D9B0C-114E-40A8-3028-5E6B206E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ACB2E-B896-61B6-4296-3CD29C42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AEBF2-79A2-548F-7C87-72E01B12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04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CEFA-DE77-28F2-9CD2-E5153256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BD9F1-E71F-37A9-894C-C53CDBDF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40475-266A-7814-9EDC-7C33D4AF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195B7-6412-FC4B-FE82-0B6166F3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0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B613B-423D-6FAA-6E6C-BEF2B1AE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B7BD8-0F0F-02FC-C3D3-B8544CD5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19F4-372B-3138-ECD0-D98573D5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5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4682-537B-71B7-500C-9B09EF42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EA80-6DFA-0FED-E22C-8595D57E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8BA97-9426-6E7C-8678-38B6250E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AA8A-4741-2305-292A-DA869351F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2746F-F9E3-054B-EE2D-AE8CAE8B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D9000-2EA7-677B-DFDB-88E0310D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24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44B2-B0FC-6091-3F3C-EC357341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D321-8F75-BA03-9DA1-BFC78D384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9EDDC-4EB7-6F77-3919-5A577DB5E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BFEE0-186E-CA34-AF11-21A9524F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A003D-7550-907C-3B9D-4C635087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FEBEC-E437-710B-660F-DF55F064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7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6F-1D63-1F5C-EA7D-CBC93694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DC6EE-955A-8625-3561-D6BBC2ACB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CCFC3-D0DE-2C62-289F-3AAB2E5B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61B0-FA83-C89A-4864-FA4ED96E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0645-8F33-FCBB-62B3-9636457F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FC944D-D672-D152-14E2-5529D4F8E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04AE0-C8F2-5FAE-1FA7-CFCAA3B2F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60263-A41E-9ABE-99FB-4DAE8C11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B8CB-1836-D74A-9B37-627560E1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9B327-3809-E944-E189-BDF25324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23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2D9F9-EF5D-7694-9152-672B6172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A6F7B-7DC1-D3B0-1059-E879164FA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0DF44-5105-BE49-31C8-186A69AD0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32C0E-D523-4CCD-B626-EBB51135BB7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87CF-D682-C970-35C6-1357A750D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77954-AA80-E050-BF56-C3C18D5E9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6156-DBF4-4B22-AD33-9F0B9B430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72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731D0E-FEDB-F172-5942-F834521B8ED2}"/>
              </a:ext>
            </a:extLst>
          </p:cNvPr>
          <p:cNvSpPr/>
          <p:nvPr/>
        </p:nvSpPr>
        <p:spPr>
          <a:xfrm>
            <a:off x="263235" y="4979565"/>
            <a:ext cx="4468090" cy="13800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8D77E-F188-5222-A2CD-CA7875C0A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235" y="1136665"/>
            <a:ext cx="11055927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ptos Display" panose="020B0004020202020204" pitchFamily="34" charset="0"/>
              </a:rPr>
              <a:t>Comparative Evaluation of CNN Models for Alzheimer’s Detection using Frequency-Domain EEG Features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79301-6CB4-0B6F-91EC-1B11BFF4E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5" y="3524265"/>
            <a:ext cx="9144000" cy="447719"/>
          </a:xfrm>
        </p:spPr>
        <p:txBody>
          <a:bodyPr/>
          <a:lstStyle/>
          <a:p>
            <a:pPr algn="l"/>
            <a:r>
              <a:rPr lang="en-US" dirty="0">
                <a:latin typeface="Aptos Display" panose="020B0004020202020204" pitchFamily="34" charset="0"/>
              </a:rPr>
              <a:t>M. Tech (IT) Minor Project Presentation</a:t>
            </a:r>
          </a:p>
          <a:p>
            <a:pPr algn="l"/>
            <a:endParaRPr lang="en-US" dirty="0">
              <a:latin typeface="Aptos Display" panose="020B0004020202020204" pitchFamily="34" charset="0"/>
            </a:endParaRPr>
          </a:p>
          <a:p>
            <a:pPr algn="l"/>
            <a:endParaRPr lang="en-US" dirty="0">
              <a:latin typeface="Aptos Display" panose="020B0004020202020204" pitchFamily="34" charset="0"/>
            </a:endParaRPr>
          </a:p>
          <a:p>
            <a:pPr algn="l"/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DE9D6-1BB0-C419-C507-EDD4D59AFFEE}"/>
              </a:ext>
            </a:extLst>
          </p:cNvPr>
          <p:cNvSpPr txBox="1"/>
          <p:nvPr/>
        </p:nvSpPr>
        <p:spPr>
          <a:xfrm>
            <a:off x="394852" y="5048585"/>
            <a:ext cx="7107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Aptos Display" panose="020B0004020202020204" pitchFamily="34" charset="0"/>
              </a:rPr>
              <a:t>Presented by: </a:t>
            </a:r>
          </a:p>
          <a:p>
            <a:pPr algn="l"/>
            <a:r>
              <a:rPr lang="en-US" b="1" dirty="0">
                <a:latin typeface="Aptos Display" panose="020B0004020202020204" pitchFamily="34" charset="0"/>
              </a:rPr>
              <a:t>Name: </a:t>
            </a:r>
            <a:r>
              <a:rPr lang="en-US" dirty="0" err="1">
                <a:latin typeface="Aptos Display" panose="020B0004020202020204" pitchFamily="34" charset="0"/>
              </a:rPr>
              <a:t>Arkidaroi</a:t>
            </a:r>
            <a:r>
              <a:rPr lang="en-US" dirty="0">
                <a:latin typeface="Aptos Display" panose="020B0004020202020204" pitchFamily="34" charset="0"/>
              </a:rPr>
              <a:t> Sama</a:t>
            </a:r>
          </a:p>
          <a:p>
            <a:pPr algn="l"/>
            <a:r>
              <a:rPr lang="en-IN" b="1" dirty="0">
                <a:latin typeface="Aptos Display" panose="020B0004020202020204" pitchFamily="34" charset="0"/>
              </a:rPr>
              <a:t>Roll No: </a:t>
            </a:r>
            <a:r>
              <a:rPr lang="en-IN" dirty="0">
                <a:latin typeface="Aptos Display" panose="020B0004020202020204" pitchFamily="34" charset="0"/>
              </a:rPr>
              <a:t>MTECHIT_01</a:t>
            </a:r>
          </a:p>
          <a:p>
            <a:pPr algn="l"/>
            <a:r>
              <a:rPr lang="en-IN" b="1" dirty="0">
                <a:latin typeface="Aptos Display" panose="020B0004020202020204" pitchFamily="34" charset="0"/>
              </a:rPr>
              <a:t>Department: </a:t>
            </a:r>
            <a:r>
              <a:rPr lang="en-IN" dirty="0">
                <a:latin typeface="Aptos Display" panose="020B0004020202020204" pitchFamily="34" charset="0"/>
              </a:rPr>
              <a:t>Information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846ED-3C6B-804A-5024-803D3272BA54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Progress Report Presentation 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3B5023-7E6A-B742-8B93-BE14A3C68227}"/>
              </a:ext>
            </a:extLst>
          </p:cNvPr>
          <p:cNvCxnSpPr>
            <a:cxnSpLocks/>
          </p:cNvCxnSpPr>
          <p:nvPr/>
        </p:nvCxnSpPr>
        <p:spPr>
          <a:xfrm>
            <a:off x="4599707" y="1020357"/>
            <a:ext cx="70796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BDA25-B6F9-1352-69F2-B2F79E0BE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794" y="4737613"/>
            <a:ext cx="1621971" cy="16219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47961F-02C2-724E-4CAE-C5F7F14AF23C}"/>
              </a:ext>
            </a:extLst>
          </p:cNvPr>
          <p:cNvSpPr txBox="1"/>
          <p:nvPr/>
        </p:nvSpPr>
        <p:spPr>
          <a:xfrm>
            <a:off x="263235" y="4007812"/>
            <a:ext cx="6127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ptos Display" panose="020B0004020202020204" pitchFamily="34" charset="0"/>
              </a:rPr>
              <a:t>11</a:t>
            </a:r>
            <a:r>
              <a:rPr lang="en-US" sz="1800" b="1" baseline="30000" dirty="0">
                <a:latin typeface="Aptos Display" panose="020B0004020202020204" pitchFamily="34" charset="0"/>
              </a:rPr>
              <a:t>th</a:t>
            </a:r>
            <a:r>
              <a:rPr lang="en-US" sz="1800" b="1" dirty="0">
                <a:latin typeface="Aptos Display" panose="020B0004020202020204" pitchFamily="34" charset="0"/>
              </a:rPr>
              <a:t> December 2025</a:t>
            </a:r>
            <a:endParaRPr lang="en-IN" sz="1800" b="1" dirty="0">
              <a:latin typeface="Aptos Display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57DA70-3DD2-B204-76DB-2542346A8917}"/>
              </a:ext>
            </a:extLst>
          </p:cNvPr>
          <p:cNvSpPr/>
          <p:nvPr/>
        </p:nvSpPr>
        <p:spPr>
          <a:xfrm>
            <a:off x="4966852" y="4979565"/>
            <a:ext cx="4468090" cy="13800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716A4-2805-959E-46C8-6BE4A8EEF4AC}"/>
              </a:ext>
            </a:extLst>
          </p:cNvPr>
          <p:cNvSpPr txBox="1"/>
          <p:nvPr/>
        </p:nvSpPr>
        <p:spPr>
          <a:xfrm>
            <a:off x="5121552" y="5159255"/>
            <a:ext cx="6127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ptos Display" panose="020B0004020202020204" pitchFamily="34" charset="0"/>
              </a:rPr>
              <a:t>Under the Supervision of: </a:t>
            </a:r>
          </a:p>
          <a:p>
            <a:r>
              <a:rPr lang="en-US" sz="1800" b="1" dirty="0">
                <a:latin typeface="Aptos Display" panose="020B0004020202020204" pitchFamily="34" charset="0"/>
              </a:rPr>
              <a:t>Name: </a:t>
            </a:r>
            <a:r>
              <a:rPr lang="en-US" sz="1800" dirty="0">
                <a:latin typeface="Aptos Display" panose="020B0004020202020204" pitchFamily="34" charset="0"/>
              </a:rPr>
              <a:t>Mrs. Sangita Neog</a:t>
            </a:r>
          </a:p>
          <a:p>
            <a:r>
              <a:rPr lang="en-IN" sz="1800" b="1" dirty="0">
                <a:latin typeface="Aptos Display" panose="020B0004020202020204" pitchFamily="34" charset="0"/>
              </a:rPr>
              <a:t>Department: </a:t>
            </a:r>
            <a:r>
              <a:rPr lang="en-IN" sz="1800" dirty="0">
                <a:latin typeface="Aptos Display" panose="020B0004020202020204" pitchFamily="34" charset="0"/>
              </a:rPr>
              <a:t>Information Technology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DDD573-D3ED-FCED-24E0-13AB8D2C548A}"/>
              </a:ext>
            </a:extLst>
          </p:cNvPr>
          <p:cNvCxnSpPr>
            <a:cxnSpLocks/>
          </p:cNvCxnSpPr>
          <p:nvPr/>
        </p:nvCxnSpPr>
        <p:spPr>
          <a:xfrm>
            <a:off x="395785" y="4577416"/>
            <a:ext cx="89075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18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B4FB-54E6-A233-0577-8244A77A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587BB1-00EE-E444-AED5-642E79DAE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5"/>
            <a:ext cx="11416148" cy="277192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Problem Statement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Objectives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Introduction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Selected Models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Dataset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Proposed Methodology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Metadata Creation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EEG Preprocessing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Feature Extraction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Expected Outcome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83841-D0D3-3F62-CFC0-EAEAE480671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Contents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19B651-5CB8-261C-21A4-0B0A9DA3599A}"/>
              </a:ext>
            </a:extLst>
          </p:cNvPr>
          <p:cNvCxnSpPr>
            <a:cxnSpLocks/>
          </p:cNvCxnSpPr>
          <p:nvPr/>
        </p:nvCxnSpPr>
        <p:spPr>
          <a:xfrm>
            <a:off x="1685581" y="1020357"/>
            <a:ext cx="99938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1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14BF-38AA-2939-E84B-C027F464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346409-12E1-B4C8-D844-1C0A43D0B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5"/>
            <a:ext cx="11416148" cy="277192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Numerous CNN architectures exist for EEG classification, but most are optimized for Brain-Computer Interface (BCI) tasks.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The effectiveness of these models for Alzheimer's Disease (AD) detection is not fully explored.</a:t>
            </a: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Specifically, their performance using Welch-based frequency-domain features remains a research gap.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BF982-9FD0-6618-7C45-FED86FDE413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Problem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39B338-836E-DF7C-CDF0-BD4077A7F9B6}"/>
              </a:ext>
            </a:extLst>
          </p:cNvPr>
          <p:cNvCxnSpPr>
            <a:cxnSpLocks/>
          </p:cNvCxnSpPr>
          <p:nvPr/>
        </p:nvCxnSpPr>
        <p:spPr>
          <a:xfrm>
            <a:off x="3002507" y="1020357"/>
            <a:ext cx="86768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211F17-385E-440A-74EE-BFD9460322B8}"/>
              </a:ext>
            </a:extLst>
          </p:cNvPr>
          <p:cNvSpPr/>
          <p:nvPr/>
        </p:nvSpPr>
        <p:spPr>
          <a:xfrm>
            <a:off x="128532" y="4651484"/>
            <a:ext cx="11800234" cy="845933"/>
          </a:xfrm>
          <a:prstGeom prst="roundRect">
            <a:avLst>
              <a:gd name="adj" fmla="val 727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9707BC-DF2A-7C5B-16CE-48C75007F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4" y="4848919"/>
            <a:ext cx="478057" cy="478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198AC0-F553-8AE1-DC62-608ACD087182}"/>
              </a:ext>
            </a:extLst>
          </p:cNvPr>
          <p:cNvSpPr txBox="1"/>
          <p:nvPr/>
        </p:nvSpPr>
        <p:spPr>
          <a:xfrm>
            <a:off x="741290" y="4764783"/>
            <a:ext cx="11187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"How do state-of-the-art CNNs perform when applied to frequency-domain EEG data for neurodegenerative disease detection?"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8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277A-F2AE-F432-8962-8F13DCF8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0E5F85-FB4D-DA1E-AFE2-A7B18243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234" y="1557704"/>
            <a:ext cx="11416148" cy="4413437"/>
          </a:xfrm>
        </p:spPr>
        <p:txBody>
          <a:bodyPr>
            <a:noAutofit/>
          </a:bodyPr>
          <a:lstStyle/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Preprocess resting-state EEG signals from the </a:t>
            </a:r>
            <a:r>
              <a:rPr lang="en-US" sz="20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OpenNeuro</a:t>
            </a: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 ds004504 dataset.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Extract frequency-domain features using the Welch PSD method.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Implement five CNN architectures for EEG classification.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Evaluate and compare model performance using subject-wise cross-validation.</a:t>
            </a: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285750" indent="-28575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Identify the most effective CNN model for Alzheimer’s detection.</a:t>
            </a:r>
            <a:endParaRPr lang="en-IN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17C27-F153-2948-FD1A-0BB611DBD1FA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Objectives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B685B6-E7CD-548D-0BAE-C35AEC000341}"/>
              </a:ext>
            </a:extLst>
          </p:cNvPr>
          <p:cNvCxnSpPr>
            <a:cxnSpLocks/>
          </p:cNvCxnSpPr>
          <p:nvPr/>
        </p:nvCxnSpPr>
        <p:spPr>
          <a:xfrm>
            <a:off x="1850834" y="1020357"/>
            <a:ext cx="98285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54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E3AC-EF08-5032-F400-3216B6D5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4AB72-1A14-6DE1-6E79-FC6281C6A4AA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32691-B4C9-EB5F-6104-8A2CEAC3723A}"/>
              </a:ext>
            </a:extLst>
          </p:cNvPr>
          <p:cNvCxnSpPr>
            <a:cxnSpLocks/>
          </p:cNvCxnSpPr>
          <p:nvPr/>
        </p:nvCxnSpPr>
        <p:spPr>
          <a:xfrm>
            <a:off x="2082188" y="1020357"/>
            <a:ext cx="959719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5E85D5-EF05-27CC-3069-A8CE82764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02" y="1785367"/>
            <a:ext cx="571500" cy="49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0D109-314C-3E5F-5B9A-9511EEDBFCF3}"/>
              </a:ext>
            </a:extLst>
          </p:cNvPr>
          <p:cNvSpPr txBox="1"/>
          <p:nvPr/>
        </p:nvSpPr>
        <p:spPr>
          <a:xfrm>
            <a:off x="2658216" y="1785367"/>
            <a:ext cx="2668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Alzheimer’s Disease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A progressive neurodegenerative disorder requiring early, non-invasive detection methods.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9EE98-22D6-3C09-1B4C-66595B063F28}"/>
              </a:ext>
            </a:extLst>
          </p:cNvPr>
          <p:cNvSpPr txBox="1"/>
          <p:nvPr/>
        </p:nvSpPr>
        <p:spPr>
          <a:xfrm>
            <a:off x="2564803" y="4083317"/>
            <a:ext cx="27622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EEG as a Diagnostic Tool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Low-cost, non-invasive, and provides high temporal resolution of brain dynamics.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23C96A-EAA9-08C1-CA05-038633BAA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02" y="4083317"/>
            <a:ext cx="523875" cy="533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5C4C67-ACC8-40CC-7660-2FEB35B6D4AA}"/>
              </a:ext>
            </a:extLst>
          </p:cNvPr>
          <p:cNvSpPr txBox="1"/>
          <p:nvPr/>
        </p:nvSpPr>
        <p:spPr>
          <a:xfrm>
            <a:off x="7515914" y="1785367"/>
            <a:ext cx="28098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Deep Learning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Automates feature extraction and captures complex non-linear patterns in EEG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BFA12-4F34-F4FC-C889-C06F60BA7EC8}"/>
              </a:ext>
            </a:extLst>
          </p:cNvPr>
          <p:cNvSpPr txBox="1"/>
          <p:nvPr/>
        </p:nvSpPr>
        <p:spPr>
          <a:xfrm>
            <a:off x="7515914" y="4083317"/>
            <a:ext cx="28098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ptos Display" panose="020B0004020202020204" pitchFamily="34" charset="0"/>
              </a:rPr>
              <a:t>Frequency Domain Analysis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Welch PSD provides a robust estimation of spectral content, crucial for AD biomarkers.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CDDABB-3865-0E73-2C54-97B71488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949" y="1785367"/>
            <a:ext cx="571500" cy="5048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19B13B-852F-1122-1C3D-AB10F08C2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049" y="4102367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5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F1CE-C844-D8B9-9506-E2F54545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D69483-3148-53C2-0DA4-964DBF2837F2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Selected CNN Models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99E4E-B36F-07A0-3894-1479879128F0}"/>
              </a:ext>
            </a:extLst>
          </p:cNvPr>
          <p:cNvCxnSpPr>
            <a:cxnSpLocks/>
          </p:cNvCxnSpPr>
          <p:nvPr/>
        </p:nvCxnSpPr>
        <p:spPr>
          <a:xfrm>
            <a:off x="3360145" y="1020357"/>
            <a:ext cx="83192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691FB3-866B-21C6-FA5D-2719CC50E9BC}"/>
              </a:ext>
            </a:extLst>
          </p:cNvPr>
          <p:cNvSpPr txBox="1"/>
          <p:nvPr/>
        </p:nvSpPr>
        <p:spPr>
          <a:xfrm>
            <a:off x="263234" y="3429000"/>
            <a:ext cx="114161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EEGNet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Compact CNN for various EEG paradigms.</a:t>
            </a: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ptos Display" panose="020B0004020202020204" pitchFamily="34" charset="0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 Display" panose="020B0004020202020204" pitchFamily="34" charset="0"/>
              </a:rPr>
              <a:t>Shallow/</a:t>
            </a: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DeepConvNet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Inspired by computer vision architectures.</a:t>
            </a: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ptos Display" panose="020B0004020202020204" pitchFamily="34" charset="0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Aptos Display" panose="020B0004020202020204" pitchFamily="34" charset="0"/>
              </a:rPr>
              <a:t>FBCNet</a:t>
            </a:r>
            <a:r>
              <a:rPr lang="en-US" sz="2000" b="0" i="0" dirty="0">
                <a:effectLst/>
                <a:latin typeface="Aptos Display" panose="020B0004020202020204" pitchFamily="34" charset="0"/>
              </a:rPr>
              <a:t>: Designed for multi-view frequency-domain features.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1CDDA6-C161-1C92-1BB1-6A61ED06F752}"/>
              </a:ext>
            </a:extLst>
          </p:cNvPr>
          <p:cNvSpPr/>
          <p:nvPr/>
        </p:nvSpPr>
        <p:spPr>
          <a:xfrm>
            <a:off x="570708" y="2181340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EEGNet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C3390B-B621-5886-1D94-ED6948E34848}"/>
              </a:ext>
            </a:extLst>
          </p:cNvPr>
          <p:cNvSpPr/>
          <p:nvPr/>
        </p:nvSpPr>
        <p:spPr>
          <a:xfrm>
            <a:off x="2728176" y="2181340"/>
            <a:ext cx="2238593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Aptos Display" panose="020B0004020202020204" pitchFamily="34" charset="0"/>
              </a:rPr>
              <a:t>ShallowConvNet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D4164D-88C2-2815-FAEA-65646B3FEBF6}"/>
              </a:ext>
            </a:extLst>
          </p:cNvPr>
          <p:cNvSpPr/>
          <p:nvPr/>
        </p:nvSpPr>
        <p:spPr>
          <a:xfrm>
            <a:off x="5218319" y="2190901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DeepConvNet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5B88F9-8832-8C58-D919-46D5CAE1092A}"/>
              </a:ext>
            </a:extLst>
          </p:cNvPr>
          <p:cNvSpPr/>
          <p:nvPr/>
        </p:nvSpPr>
        <p:spPr>
          <a:xfrm>
            <a:off x="7375788" y="2200462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SCCNet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9407A4-1916-D9FC-1E2F-7C3E15BA4F55}"/>
              </a:ext>
            </a:extLst>
          </p:cNvPr>
          <p:cNvSpPr/>
          <p:nvPr/>
        </p:nvSpPr>
        <p:spPr>
          <a:xfrm>
            <a:off x="9533257" y="2200462"/>
            <a:ext cx="1905918" cy="638978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2060"/>
                </a:solidFill>
                <a:latin typeface="Aptos Display" panose="020B0004020202020204" pitchFamily="34" charset="0"/>
              </a:rPr>
              <a:t>FBCNet</a:t>
            </a:r>
            <a:endParaRPr lang="en-IN" sz="20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7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98E5-D003-B5C2-82BA-E291B9D3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999AD7-F0EF-CFCB-B38D-F804F5E580A4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Dataset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08CDAB-F3D1-CC9C-B7BD-2D135BD3C5AC}"/>
              </a:ext>
            </a:extLst>
          </p:cNvPr>
          <p:cNvCxnSpPr>
            <a:cxnSpLocks/>
          </p:cNvCxnSpPr>
          <p:nvPr/>
        </p:nvCxnSpPr>
        <p:spPr>
          <a:xfrm>
            <a:off x="1498294" y="1020357"/>
            <a:ext cx="101810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524C4C-5621-FA20-C6AA-7B8464CF4405}"/>
              </a:ext>
            </a:extLst>
          </p:cNvPr>
          <p:cNvSpPr txBox="1"/>
          <p:nvPr/>
        </p:nvSpPr>
        <p:spPr>
          <a:xfrm>
            <a:off x="263234" y="1552449"/>
            <a:ext cx="114161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Source: </a:t>
            </a:r>
            <a:r>
              <a:rPr lang="en-US" sz="2000" dirty="0" err="1">
                <a:latin typeface="Aptos Display" panose="020B0004020202020204" pitchFamily="34" charset="0"/>
              </a:rPr>
              <a:t>OpenNeuro</a:t>
            </a:r>
            <a:r>
              <a:rPr lang="en-US" sz="2000" dirty="0">
                <a:latin typeface="Aptos Display" panose="020B0004020202020204" pitchFamily="34" charset="0"/>
              </a:rPr>
              <a:t> ds004504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Type: Resting-state EEG (Eyes Closed)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Configuration: 19 Channels, 500 Hz Sampling Rate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Total Subjects: 88 (176 EEG files detected)</a:t>
            </a: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Class distribution: AD (36), CN (29), FTD (23)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3AE3479-B94C-A644-A532-4802547F7600}"/>
              </a:ext>
            </a:extLst>
          </p:cNvPr>
          <p:cNvGraphicFramePr>
            <a:graphicFrameLocks/>
          </p:cNvGraphicFramePr>
          <p:nvPr/>
        </p:nvGraphicFramePr>
        <p:xfrm>
          <a:off x="5927262" y="1761467"/>
          <a:ext cx="5752120" cy="34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8045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75BFA-2641-B720-E903-76008DD3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F169212-3011-64EA-5C30-5E71E7D24969}"/>
              </a:ext>
            </a:extLst>
          </p:cNvPr>
          <p:cNvSpPr/>
          <p:nvPr/>
        </p:nvSpPr>
        <p:spPr>
          <a:xfrm>
            <a:off x="8853070" y="4115272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7C7E0D6-3285-9B61-02BA-48C3332EE124}"/>
              </a:ext>
            </a:extLst>
          </p:cNvPr>
          <p:cNvSpPr/>
          <p:nvPr/>
        </p:nvSpPr>
        <p:spPr>
          <a:xfrm>
            <a:off x="6096000" y="4128585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257BC5C-BB3F-BFE3-D44B-777F2BF285E9}"/>
              </a:ext>
            </a:extLst>
          </p:cNvPr>
          <p:cNvSpPr/>
          <p:nvPr/>
        </p:nvSpPr>
        <p:spPr>
          <a:xfrm>
            <a:off x="3338930" y="4138122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9942763-5B3D-6281-F5E7-F7A1A45BA760}"/>
              </a:ext>
            </a:extLst>
          </p:cNvPr>
          <p:cNvSpPr/>
          <p:nvPr/>
        </p:nvSpPr>
        <p:spPr>
          <a:xfrm>
            <a:off x="575699" y="4143555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5359B93-1373-6A30-60FD-F9801FD0B645}"/>
              </a:ext>
            </a:extLst>
          </p:cNvPr>
          <p:cNvSpPr/>
          <p:nvPr/>
        </p:nvSpPr>
        <p:spPr>
          <a:xfrm>
            <a:off x="8839229" y="1828188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09664A7-D068-B5F9-2756-6B6FFFFDF117}"/>
              </a:ext>
            </a:extLst>
          </p:cNvPr>
          <p:cNvSpPr/>
          <p:nvPr/>
        </p:nvSpPr>
        <p:spPr>
          <a:xfrm>
            <a:off x="6082159" y="1841501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BE63A39-3717-E624-A30F-6C94794015CC}"/>
              </a:ext>
            </a:extLst>
          </p:cNvPr>
          <p:cNvSpPr/>
          <p:nvPr/>
        </p:nvSpPr>
        <p:spPr>
          <a:xfrm>
            <a:off x="3325089" y="1851038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CB97060-9442-99A1-A6DE-126519B1AF1E}"/>
              </a:ext>
            </a:extLst>
          </p:cNvPr>
          <p:cNvSpPr/>
          <p:nvPr/>
        </p:nvSpPr>
        <p:spPr>
          <a:xfrm>
            <a:off x="561858" y="1856471"/>
            <a:ext cx="2202658" cy="142192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D5A5D-D060-9132-9F21-DBCACC3C989E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Proposed 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E2788C-11DF-E6A1-4ED4-2C3B802703A3}"/>
              </a:ext>
            </a:extLst>
          </p:cNvPr>
          <p:cNvCxnSpPr>
            <a:cxnSpLocks/>
          </p:cNvCxnSpPr>
          <p:nvPr/>
        </p:nvCxnSpPr>
        <p:spPr>
          <a:xfrm>
            <a:off x="3481330" y="1020357"/>
            <a:ext cx="819805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72D436-B48A-DBAB-B100-3EC78126C1B6}"/>
              </a:ext>
            </a:extLst>
          </p:cNvPr>
          <p:cNvSpPr txBox="1"/>
          <p:nvPr/>
        </p:nvSpPr>
        <p:spPr>
          <a:xfrm>
            <a:off x="561858" y="2640177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Data Source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 err="1">
                <a:effectLst/>
                <a:latin typeface="Inter"/>
              </a:rPr>
              <a:t>OpenNeuro</a:t>
            </a:r>
            <a:r>
              <a:rPr lang="en-IN" sz="1600" dirty="0">
                <a:latin typeface="Inter"/>
              </a:rPr>
              <a:t> </a:t>
            </a:r>
            <a:r>
              <a:rPr lang="en-IN" sz="1600" b="0" i="0" dirty="0">
                <a:effectLst/>
                <a:latin typeface="Inter"/>
              </a:rPr>
              <a:t>ds004504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D0F655-DF30-0226-A465-3B471E201424}"/>
              </a:ext>
            </a:extLst>
          </p:cNvPr>
          <p:cNvSpPr txBox="1"/>
          <p:nvPr/>
        </p:nvSpPr>
        <p:spPr>
          <a:xfrm>
            <a:off x="3325089" y="2648431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Preprocessing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0.5-45Hz Filter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C6AC7-25FC-3043-0201-D982966F339E}"/>
              </a:ext>
            </a:extLst>
          </p:cNvPr>
          <p:cNvSpPr txBox="1"/>
          <p:nvPr/>
        </p:nvSpPr>
        <p:spPr>
          <a:xfrm>
            <a:off x="6082160" y="262686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Segmentation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4s Epochs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8787B-3DA3-CC8A-59B0-FA2C091862C4}"/>
              </a:ext>
            </a:extLst>
          </p:cNvPr>
          <p:cNvSpPr txBox="1"/>
          <p:nvPr/>
        </p:nvSpPr>
        <p:spPr>
          <a:xfrm>
            <a:off x="8839229" y="2615847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Feature Extraction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Welch PSD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92489CA-4B75-FB24-3A85-3C0642A01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4515" y="1946089"/>
            <a:ext cx="746306" cy="74067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65F6A18-F80E-60CB-4D87-E8D8C3B26CE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3818" y="1945161"/>
            <a:ext cx="745200" cy="7416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784C27C-8B25-D06C-D8CF-67EC3BC2EEF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7580" y="1945161"/>
            <a:ext cx="745200" cy="7416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0B9397C-9212-DEAA-2388-6CA2837638F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7958" y="1898577"/>
            <a:ext cx="745200" cy="7416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5B8B456-5BF5-A0BA-AD80-8FEF0B8CBBF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7509" y="4204401"/>
            <a:ext cx="745200" cy="7416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74627C4-B5D0-CFF4-14DF-65A9690B6227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73233" y="4204401"/>
            <a:ext cx="745200" cy="75695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E6A77A5E-29B1-C74E-A262-95F0F6232E87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50895" y="4173303"/>
            <a:ext cx="745200" cy="7416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9F81208-AA14-CDFF-B862-A2E4AEF482D5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81799" y="4204401"/>
            <a:ext cx="745200" cy="741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AE16EE8-76F4-C458-E4BE-3C7E12510DBC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324" y="2407383"/>
            <a:ext cx="232794" cy="2327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3ECA852-4160-F10A-E76F-8074E62EAB01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556" y="2412552"/>
            <a:ext cx="232794" cy="23279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80B1DC-7352-71CC-B24F-FEAF061AD6A7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788" y="2415809"/>
            <a:ext cx="232794" cy="232794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1E41B0E-754C-B468-ADCE-FD1CAF6B21DB}"/>
              </a:ext>
            </a:extLst>
          </p:cNvPr>
          <p:cNvSpPr/>
          <p:nvPr/>
        </p:nvSpPr>
        <p:spPr>
          <a:xfrm>
            <a:off x="575699" y="1409823"/>
            <a:ext cx="1095810" cy="285456"/>
          </a:xfrm>
          <a:prstGeom prst="roundRect">
            <a:avLst>
              <a:gd name="adj" fmla="val 50000"/>
            </a:avLst>
          </a:prstGeom>
          <a:solidFill>
            <a:srgbClr val="388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Phase 1</a:t>
            </a:r>
            <a:endParaRPr lang="en-IN" sz="1600" dirty="0">
              <a:latin typeface="Aptos Display" panose="020B0004020202020204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9101315-7205-80F5-12BE-6E69C15844C0}"/>
              </a:ext>
            </a:extLst>
          </p:cNvPr>
          <p:cNvCxnSpPr>
            <a:cxnSpLocks/>
          </p:cNvCxnSpPr>
          <p:nvPr/>
        </p:nvCxnSpPr>
        <p:spPr>
          <a:xfrm>
            <a:off x="1795749" y="1552551"/>
            <a:ext cx="9259979" cy="0"/>
          </a:xfrm>
          <a:prstGeom prst="line">
            <a:avLst/>
          </a:prstGeom>
          <a:ln>
            <a:solidFill>
              <a:srgbClr val="3886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7170895-AB85-46AA-E9F0-0229F249CB21}"/>
              </a:ext>
            </a:extLst>
          </p:cNvPr>
          <p:cNvSpPr/>
          <p:nvPr/>
        </p:nvSpPr>
        <p:spPr>
          <a:xfrm>
            <a:off x="575699" y="3705221"/>
            <a:ext cx="1095810" cy="285456"/>
          </a:xfrm>
          <a:prstGeom prst="roundRect">
            <a:avLst>
              <a:gd name="adj" fmla="val 50000"/>
            </a:avLst>
          </a:prstGeom>
          <a:solidFill>
            <a:srgbClr val="007BB8"/>
          </a:solidFill>
          <a:ln>
            <a:solidFill>
              <a:srgbClr val="007B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Phase 2</a:t>
            </a:r>
            <a:endParaRPr lang="en-IN" sz="1600" dirty="0">
              <a:latin typeface="Aptos Display" panose="020B00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EAEB658-6BDD-839D-3649-E4DE8464B6E6}"/>
              </a:ext>
            </a:extLst>
          </p:cNvPr>
          <p:cNvCxnSpPr>
            <a:cxnSpLocks/>
          </p:cNvCxnSpPr>
          <p:nvPr/>
        </p:nvCxnSpPr>
        <p:spPr>
          <a:xfrm>
            <a:off x="1795749" y="3847949"/>
            <a:ext cx="9259979" cy="0"/>
          </a:xfrm>
          <a:prstGeom prst="line">
            <a:avLst/>
          </a:prstGeom>
          <a:ln>
            <a:solidFill>
              <a:srgbClr val="007BB8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D7B7994-5A8F-D225-B38B-1DCA955334DC}"/>
              </a:ext>
            </a:extLst>
          </p:cNvPr>
          <p:cNvSpPr txBox="1"/>
          <p:nvPr/>
        </p:nvSpPr>
        <p:spPr>
          <a:xfrm>
            <a:off x="578780" y="493557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nb-NO" sz="1600" b="1" i="0" dirty="0">
                <a:effectLst/>
                <a:latin typeface="Inter"/>
              </a:rPr>
              <a:t>CNN Modeling</a:t>
            </a:r>
          </a:p>
          <a:p>
            <a:pPr algn="ctr">
              <a:spcBef>
                <a:spcPts val="300"/>
              </a:spcBef>
              <a:buNone/>
            </a:pPr>
            <a:r>
              <a:rPr lang="nb-NO" sz="1600" b="0" i="0" dirty="0">
                <a:effectLst/>
                <a:latin typeface="Inter"/>
              </a:rPr>
              <a:t>EEGNet, FBCNet, etc.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CBE95-E631-E29A-3A59-754BA1FC51EF}"/>
              </a:ext>
            </a:extLst>
          </p:cNvPr>
          <p:cNvSpPr txBox="1"/>
          <p:nvPr/>
        </p:nvSpPr>
        <p:spPr>
          <a:xfrm>
            <a:off x="3342011" y="4924521"/>
            <a:ext cx="218573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Training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Stratified K-Fold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2165EB-6E0E-72FA-CF90-783A776E134A}"/>
              </a:ext>
            </a:extLst>
          </p:cNvPr>
          <p:cNvSpPr txBox="1"/>
          <p:nvPr/>
        </p:nvSpPr>
        <p:spPr>
          <a:xfrm>
            <a:off x="6095999" y="4917058"/>
            <a:ext cx="218881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Evaluation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Accuracy, F1, AUC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D77751-F212-876C-024A-9004B0548797}"/>
              </a:ext>
            </a:extLst>
          </p:cNvPr>
          <p:cNvSpPr txBox="1"/>
          <p:nvPr/>
        </p:nvSpPr>
        <p:spPr>
          <a:xfrm>
            <a:off x="8853070" y="4913504"/>
            <a:ext cx="2202658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i="0" dirty="0">
                <a:effectLst/>
                <a:latin typeface="Inter"/>
              </a:rPr>
              <a:t>Comparative Analysis</a:t>
            </a:r>
          </a:p>
          <a:p>
            <a:pPr algn="ctr">
              <a:spcBef>
                <a:spcPts val="300"/>
              </a:spcBef>
              <a:buNone/>
            </a:pPr>
            <a:r>
              <a:rPr lang="en-IN" sz="1600" b="0" i="0" dirty="0">
                <a:effectLst/>
                <a:latin typeface="Inter"/>
              </a:rPr>
              <a:t>Model Benchmarking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04F2235-9E47-DD63-25E9-013FC02FE490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324" y="4706029"/>
            <a:ext cx="232794" cy="23279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C2E4F2B-25E5-317B-9137-D16830EB0EA6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556" y="4711198"/>
            <a:ext cx="232794" cy="23279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901301F-A328-14AE-C048-8036433B28E9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788" y="4714455"/>
            <a:ext cx="232794" cy="2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3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C236-2F7F-A54F-32D2-1ABB7643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CA9C9C-D0F9-8EA6-F85E-05F34B0D0366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Metadata Creation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3879F9-F87A-A655-1D3D-72F972BDCA11}"/>
              </a:ext>
            </a:extLst>
          </p:cNvPr>
          <p:cNvCxnSpPr>
            <a:cxnSpLocks/>
          </p:cNvCxnSpPr>
          <p:nvPr/>
        </p:nvCxnSpPr>
        <p:spPr>
          <a:xfrm>
            <a:off x="2886419" y="1020357"/>
            <a:ext cx="87929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4FAD884-2D91-CBC2-B997-37A91AC6D289}"/>
              </a:ext>
            </a:extLst>
          </p:cNvPr>
          <p:cNvSpPr txBox="1"/>
          <p:nvPr/>
        </p:nvSpPr>
        <p:spPr>
          <a:xfrm>
            <a:off x="263234" y="1552449"/>
            <a:ext cx="11416148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Extracted subject IDs from the BIDS dataset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Labels mapped as: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AD = 0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CN = 1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FTD =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Created subject_metadata.csv for downstream processing.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9BDE57-EA1E-1A59-F258-335A171EE81D}"/>
              </a:ext>
            </a:extLst>
          </p:cNvPr>
          <p:cNvSpPr/>
          <p:nvPr/>
        </p:nvSpPr>
        <p:spPr>
          <a:xfrm>
            <a:off x="2148289" y="4237146"/>
            <a:ext cx="8075364" cy="1972586"/>
          </a:xfrm>
          <a:prstGeom prst="roundRect">
            <a:avLst/>
          </a:prstGeom>
          <a:solidFill>
            <a:srgbClr val="111E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9D992-37B1-A658-E357-6E08F2176E0A}"/>
              </a:ext>
            </a:extLst>
          </p:cNvPr>
          <p:cNvSpPr txBox="1"/>
          <p:nvPr/>
        </p:nvSpPr>
        <p:spPr>
          <a:xfrm>
            <a:off x="2332822" y="4848582"/>
            <a:ext cx="8630464" cy="108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subject_id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label, 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class_name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eeg_file</a:t>
            </a:r>
            <a:endParaRPr lang="en-IN" sz="1600" kern="0" dirty="0">
              <a:solidFill>
                <a:schemeClr val="bg1"/>
              </a:solidFill>
              <a:latin typeface="Aptos Display" panose="020B000402020202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sub-001, 0, AD, data\raw\ds004504\sub-001\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\sub-001_task-eyesclosed_eeg.set</a:t>
            </a: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sub-037, 1, CN, data\raw\ds004504\sub-037\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\sub-037_task-eyesclosed_eeg.set</a:t>
            </a:r>
          </a:p>
          <a:p>
            <a:pPr>
              <a:lnSpc>
                <a:spcPts val="1300"/>
              </a:lnSpc>
              <a:spcAft>
                <a:spcPts val="800"/>
              </a:spcAft>
              <a:buNone/>
            </a:pP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sub-066, 2, FTD, data\raw\ds004504\sub-066\</a:t>
            </a:r>
            <a:r>
              <a:rPr lang="en-IN" sz="1600" kern="0" dirty="0" err="1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eeg</a:t>
            </a:r>
            <a:r>
              <a:rPr lang="en-IN" sz="1600" kern="0" dirty="0">
                <a:solidFill>
                  <a:schemeClr val="bg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\sub-066_task-eyesclosed_eeg.set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37F6A-554E-EC26-5C6C-12D53936F01B}"/>
              </a:ext>
            </a:extLst>
          </p:cNvPr>
          <p:cNvSpPr txBox="1"/>
          <p:nvPr/>
        </p:nvSpPr>
        <p:spPr>
          <a:xfrm>
            <a:off x="2332822" y="437320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Aptos Display" panose="020B0004020202020204" pitchFamily="34" charset="0"/>
              </a:rPr>
              <a:t>// subject_metadata.csv preview</a:t>
            </a:r>
            <a:endParaRPr lang="en-IN" dirty="0">
              <a:solidFill>
                <a:srgbClr val="00B05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8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3FBA-DAC3-6A44-D5F4-79E0E7EC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11B38D-F9B1-5B9C-3A46-73BA839DCDA6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Preprocessing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17E3B-14CA-A6A0-872D-C9511F2EE29E}"/>
              </a:ext>
            </a:extLst>
          </p:cNvPr>
          <p:cNvCxnSpPr>
            <a:cxnSpLocks/>
          </p:cNvCxnSpPr>
          <p:nvPr/>
        </p:nvCxnSpPr>
        <p:spPr>
          <a:xfrm>
            <a:off x="2357610" y="1020357"/>
            <a:ext cx="932177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4214B5C-189B-97DD-38C2-0BF8F98B2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89" b="5472"/>
          <a:stretch>
            <a:fillRect/>
          </a:stretch>
        </p:blipFill>
        <p:spPr>
          <a:xfrm>
            <a:off x="6096000" y="1648016"/>
            <a:ext cx="5036211" cy="37723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272AD3-B1B0-90B0-FB3D-BA4BCD8F533C}"/>
              </a:ext>
            </a:extLst>
          </p:cNvPr>
          <p:cNvSpPr txBox="1"/>
          <p:nvPr/>
        </p:nvSpPr>
        <p:spPr>
          <a:xfrm>
            <a:off x="263234" y="1552449"/>
            <a:ext cx="4826559" cy="25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Steps for EEG Preprocessing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Raw EEG Data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Band-pass Filtering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Segmentation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Artifact Rejection</a:t>
            </a:r>
          </a:p>
        </p:txBody>
      </p:sp>
    </p:spTree>
    <p:extLst>
      <p:ext uri="{BB962C8B-B14F-4D97-AF65-F5344CB8AC3E}">
        <p14:creationId xmlns:p14="http://schemas.microsoft.com/office/powerpoint/2010/main" val="342001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9ECB2-CAC5-FCA6-9B4A-0F80E911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DCFCF3-721D-D67D-6E48-D0549D7A67C7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EEG Band-pass Filtering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C65234-DC5D-D57F-0D58-A6322892EE41}"/>
              </a:ext>
            </a:extLst>
          </p:cNvPr>
          <p:cNvCxnSpPr>
            <a:cxnSpLocks/>
          </p:cNvCxnSpPr>
          <p:nvPr/>
        </p:nvCxnSpPr>
        <p:spPr>
          <a:xfrm>
            <a:off x="3635566" y="1020357"/>
            <a:ext cx="80438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0F1AF3-B251-040F-0ED7-318EEE7BEE43}"/>
              </a:ext>
            </a:extLst>
          </p:cNvPr>
          <p:cNvSpPr txBox="1"/>
          <p:nvPr/>
        </p:nvSpPr>
        <p:spPr>
          <a:xfrm>
            <a:off x="263234" y="1552449"/>
            <a:ext cx="114161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Filtering</a:t>
            </a:r>
          </a:p>
          <a:p>
            <a:r>
              <a:rPr lang="en-US" dirty="0">
                <a:latin typeface="Aptos Display" panose="020B0004020202020204" pitchFamily="34" charset="0"/>
              </a:rPr>
              <a:t>	- Band-pass: 0.5 – 45 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Sampling </a:t>
            </a:r>
            <a:r>
              <a:rPr lang="en-US" b="1" dirty="0" err="1">
                <a:latin typeface="Aptos Display" panose="020B0004020202020204" pitchFamily="34" charset="0"/>
              </a:rPr>
              <a:t>Frequncy</a:t>
            </a:r>
            <a:endParaRPr lang="en-US" b="1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	- Frequency: 500 Hz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57B93-5C4A-BA34-B68E-5F1C06FA3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" y="3429000"/>
            <a:ext cx="5396846" cy="2661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CC82EB-FE41-C0E3-1CC9-08C1EDA2C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535" y="3404358"/>
            <a:ext cx="5396847" cy="26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58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A9F0-629C-FD03-9998-55876020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99749C-37F7-9F64-75DA-9EA147BCE761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Epoch Segmentation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BBA966-3946-0679-F28D-661873B6F0BE}"/>
              </a:ext>
            </a:extLst>
          </p:cNvPr>
          <p:cNvCxnSpPr>
            <a:cxnSpLocks/>
          </p:cNvCxnSpPr>
          <p:nvPr/>
        </p:nvCxnSpPr>
        <p:spPr>
          <a:xfrm>
            <a:off x="3216925" y="1020357"/>
            <a:ext cx="846245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ED403C-A86F-1DA6-E461-D949CADE3A4F}"/>
              </a:ext>
            </a:extLst>
          </p:cNvPr>
          <p:cNvSpPr txBox="1"/>
          <p:nvPr/>
        </p:nvSpPr>
        <p:spPr>
          <a:xfrm>
            <a:off x="263234" y="1552449"/>
            <a:ext cx="11416148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 filtered EEG was split into fixed 4-second parts.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These small parts are called epochs.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This makes feature extraction easier and consistent.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6F895C-5868-DB25-FB2E-D5C0EC72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88" y="3429000"/>
            <a:ext cx="7206535" cy="32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8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C55D-5829-0EFE-3058-C82125F52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460D3F-626F-5DEC-8ACD-F7906B24A0F0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Artifact Rejection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5AC918-2382-769F-57E1-35EBBEEEE1B5}"/>
              </a:ext>
            </a:extLst>
          </p:cNvPr>
          <p:cNvCxnSpPr>
            <a:cxnSpLocks/>
          </p:cNvCxnSpPr>
          <p:nvPr/>
        </p:nvCxnSpPr>
        <p:spPr>
          <a:xfrm>
            <a:off x="2765234" y="1020357"/>
            <a:ext cx="89141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11078C-E7C8-F603-0F93-0D08C055A6EA}"/>
              </a:ext>
            </a:extLst>
          </p:cNvPr>
          <p:cNvSpPr txBox="1"/>
          <p:nvPr/>
        </p:nvSpPr>
        <p:spPr>
          <a:xfrm>
            <a:off x="263234" y="1552449"/>
            <a:ext cx="11416148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Bad epochs were removed.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Rules used: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amplitude threshold: +/-150 </a:t>
            </a:r>
            <a:r>
              <a:rPr lang="en-US" dirty="0" err="1">
                <a:latin typeface="Aptos Display" panose="020B0004020202020204" pitchFamily="34" charset="0"/>
              </a:rPr>
              <a:t>uV</a:t>
            </a:r>
            <a:endParaRPr lang="en-US" dirty="0">
              <a:latin typeface="Aptos Display" panose="020B00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high-frequency check: 20-45 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This helps keep only cleaner EEG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1A342-A8B6-1168-B036-77E93864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565" y="2788630"/>
            <a:ext cx="6411817" cy="375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1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FF5D-F563-3B10-29AC-EA4774A0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AB901F-C5EE-F844-D7F4-C9E0CD92BA93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Preprocessing Output Example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F63939-DEF7-9FDC-46FA-5F8BE97D833C}"/>
              </a:ext>
            </a:extLst>
          </p:cNvPr>
          <p:cNvCxnSpPr>
            <a:cxnSpLocks/>
          </p:cNvCxnSpPr>
          <p:nvPr/>
        </p:nvCxnSpPr>
        <p:spPr>
          <a:xfrm>
            <a:off x="4516916" y="1020357"/>
            <a:ext cx="716246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2E647C-D8CD-2C2F-5665-434EA877F78D}"/>
              </a:ext>
            </a:extLst>
          </p:cNvPr>
          <p:cNvSpPr txBox="1"/>
          <p:nvPr/>
        </p:nvSpPr>
        <p:spPr>
          <a:xfrm>
            <a:off x="263234" y="1552449"/>
            <a:ext cx="11416148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Sample subject: sub-001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Sampling frequency: 500 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Channels: 19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Retained epochs: 138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Epoch shape: (138, 19, 2000)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0BAC4-5034-3669-5F5E-D8DE26466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482" y="1939498"/>
            <a:ext cx="8098900" cy="298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1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8883-8626-4A5A-78DE-D65B653E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F6A85A-CC4A-705B-B48A-0F0CA8BDF123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Feature Extraction: Welch PSD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3A58BC-DA18-3F21-B53C-9574E5A3C50C}"/>
              </a:ext>
            </a:extLst>
          </p:cNvPr>
          <p:cNvCxnSpPr>
            <a:cxnSpLocks/>
          </p:cNvCxnSpPr>
          <p:nvPr/>
        </p:nvCxnSpPr>
        <p:spPr>
          <a:xfrm>
            <a:off x="4461831" y="1020357"/>
            <a:ext cx="72175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2B1055-9B74-D25B-32F0-2F08A36BF48A}"/>
              </a:ext>
            </a:extLst>
          </p:cNvPr>
          <p:cNvSpPr txBox="1"/>
          <p:nvPr/>
        </p:nvSpPr>
        <p:spPr>
          <a:xfrm>
            <a:off x="263234" y="1552449"/>
            <a:ext cx="5832766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Welch PSD was used to convert EEG into frequency-domain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It shows how signal power is distributed across frequencies.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EEG analyzed from 1 Hz to 45 Hz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Relative normalization was applied.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Output shape example: (138, 19, 89)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138 epochs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19 channels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ptos Display" panose="020B0004020202020204" pitchFamily="34" charset="0"/>
              </a:rPr>
              <a:t>89 frequency bins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598B3-A80E-BFDA-AED8-AA30CC7CB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68" y="1273004"/>
            <a:ext cx="5299114" cy="2702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717F42-5288-84F3-17BF-E1818D79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247" y="3975077"/>
            <a:ext cx="6338136" cy="280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0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9476-23F3-F11F-4573-5E5B5A0B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221C8E-0D92-7E60-A47C-962D4F5E011B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Full Dataset 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F33AD2-48B4-A898-7E97-705E8C8508A2}"/>
              </a:ext>
            </a:extLst>
          </p:cNvPr>
          <p:cNvCxnSpPr>
            <a:cxnSpLocks/>
          </p:cNvCxnSpPr>
          <p:nvPr/>
        </p:nvCxnSpPr>
        <p:spPr>
          <a:xfrm>
            <a:off x="3166281" y="1020357"/>
            <a:ext cx="85131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279186-E45E-F903-1DD4-C29B88510DAC}"/>
              </a:ext>
            </a:extLst>
          </p:cNvPr>
          <p:cNvSpPr txBox="1"/>
          <p:nvPr/>
        </p:nvSpPr>
        <p:spPr>
          <a:xfrm>
            <a:off x="263234" y="1552449"/>
            <a:ext cx="2903047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Total subjects found: 88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Successfully processed: 88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Failed subjects: 0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Total rejected epochs: 3244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Average epochs per subject: 163.18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821E8-3BE3-72EE-F4F0-F4D1A7D0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730" y="4309230"/>
            <a:ext cx="4132169" cy="2473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BE7DFC-4BC8-60A5-B098-5158630F6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250" y="1273004"/>
            <a:ext cx="6807131" cy="303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9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8010-9D42-4499-70C7-1A9692CF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31A331-F6DC-2009-BD03-096D188B8D61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Future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2096-483D-C757-8630-7A1492B20A68}"/>
              </a:ext>
            </a:extLst>
          </p:cNvPr>
          <p:cNvCxnSpPr>
            <a:cxnSpLocks/>
          </p:cNvCxnSpPr>
          <p:nvPr/>
        </p:nvCxnSpPr>
        <p:spPr>
          <a:xfrm>
            <a:off x="2115403" y="1020357"/>
            <a:ext cx="95639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D3D21E-79BA-B34D-2227-424883A5308E}"/>
              </a:ext>
            </a:extLst>
          </p:cNvPr>
          <p:cNvSpPr txBox="1"/>
          <p:nvPr/>
        </p:nvSpPr>
        <p:spPr>
          <a:xfrm>
            <a:off x="263234" y="1552449"/>
            <a:ext cx="11416148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Prepare subject-wise train, validation, and test splits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Implement CNN models such as </a:t>
            </a:r>
            <a:r>
              <a:rPr lang="en-US" dirty="0" err="1">
                <a:latin typeface="Aptos Display" panose="020B0004020202020204" pitchFamily="34" charset="0"/>
              </a:rPr>
              <a:t>EEGNet</a:t>
            </a:r>
            <a:r>
              <a:rPr lang="en-US" dirty="0">
                <a:latin typeface="Aptos Display" panose="020B0004020202020204" pitchFamily="34" charset="0"/>
              </a:rPr>
              <a:t>, ShallowConvNet, </a:t>
            </a:r>
            <a:r>
              <a:rPr lang="en-US" dirty="0" err="1">
                <a:latin typeface="Aptos Display" panose="020B0004020202020204" pitchFamily="34" charset="0"/>
              </a:rPr>
              <a:t>DeepConvNet</a:t>
            </a:r>
            <a:r>
              <a:rPr lang="en-US" dirty="0">
                <a:latin typeface="Aptos Display" panose="020B0004020202020204" pitchFamily="34" charset="0"/>
              </a:rPr>
              <a:t>, </a:t>
            </a:r>
            <a:r>
              <a:rPr lang="en-US" dirty="0" err="1">
                <a:latin typeface="Aptos Display" panose="020B0004020202020204" pitchFamily="34" charset="0"/>
              </a:rPr>
              <a:t>SCCNet</a:t>
            </a:r>
            <a:r>
              <a:rPr lang="en-US" dirty="0">
                <a:latin typeface="Aptos Display" panose="020B0004020202020204" pitchFamily="34" charset="0"/>
              </a:rPr>
              <a:t>, and </a:t>
            </a:r>
            <a:r>
              <a:rPr lang="en-US" dirty="0" err="1">
                <a:latin typeface="Aptos Display" panose="020B0004020202020204" pitchFamily="34" charset="0"/>
              </a:rPr>
              <a:t>FBCNet</a:t>
            </a:r>
            <a:endParaRPr lang="en-US" dirty="0">
              <a:latin typeface="Aptos Display" panose="020B00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Train and evaluate each model using the PSD features from Phase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Compare model performance and identify the best architecture</a:t>
            </a:r>
            <a:endParaRPr lang="en-I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0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5B56-01FA-1DBB-633B-5788E113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205FE9-1E3A-F868-B881-6F5565F8AA28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References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2D39FE-A17B-E341-3C17-04A14CC04021}"/>
              </a:ext>
            </a:extLst>
          </p:cNvPr>
          <p:cNvCxnSpPr>
            <a:cxnSpLocks/>
          </p:cNvCxnSpPr>
          <p:nvPr/>
        </p:nvCxnSpPr>
        <p:spPr>
          <a:xfrm>
            <a:off x="1972019" y="1020357"/>
            <a:ext cx="97073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842676B-9889-2E74-016E-542AAF4EE293}"/>
              </a:ext>
            </a:extLst>
          </p:cNvPr>
          <p:cNvSpPr txBox="1"/>
          <p:nvPr/>
        </p:nvSpPr>
        <p:spPr>
          <a:xfrm>
            <a:off x="263234" y="1552449"/>
            <a:ext cx="11416148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ptos Display" panose="020B0004020202020204" pitchFamily="34" charset="0"/>
              </a:rPr>
              <a:t>Lawhern</a:t>
            </a:r>
            <a:r>
              <a:rPr lang="en-US" dirty="0">
                <a:latin typeface="Aptos Display" panose="020B0004020202020204" pitchFamily="34" charset="0"/>
              </a:rPr>
              <a:t>, V. J., Solon, A. J., </a:t>
            </a:r>
            <a:r>
              <a:rPr lang="en-US" dirty="0" err="1">
                <a:latin typeface="Aptos Display" panose="020B0004020202020204" pitchFamily="34" charset="0"/>
              </a:rPr>
              <a:t>Waytowich</a:t>
            </a:r>
            <a:r>
              <a:rPr lang="en-US" dirty="0">
                <a:latin typeface="Aptos Display" panose="020B0004020202020204" pitchFamily="34" charset="0"/>
              </a:rPr>
              <a:t>, N. R., Gordon, S. M., Hung, C. P., &amp; Lance, B. J. (2018). </a:t>
            </a:r>
            <a:r>
              <a:rPr lang="en-US" dirty="0" err="1">
                <a:latin typeface="Aptos Display" panose="020B0004020202020204" pitchFamily="34" charset="0"/>
              </a:rPr>
              <a:t>EEGNet</a:t>
            </a:r>
            <a:r>
              <a:rPr lang="en-US" dirty="0">
                <a:latin typeface="Aptos Display" panose="020B0004020202020204" pitchFamily="34" charset="0"/>
              </a:rPr>
              <a:t>: A Compact Convolutional Neural Network for EEG-based Brain–Computer Interfaces.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Schirrmeister</a:t>
            </a:r>
            <a:r>
              <a:rPr lang="en-IN" dirty="0">
                <a:latin typeface="Aptos Display" panose="020B0004020202020204" pitchFamily="34" charset="0"/>
              </a:rPr>
              <a:t>, R. T., </a:t>
            </a:r>
            <a:r>
              <a:rPr lang="en-IN" dirty="0" err="1">
                <a:latin typeface="Aptos Display" panose="020B0004020202020204" pitchFamily="34" charset="0"/>
              </a:rPr>
              <a:t>Springenberg</a:t>
            </a:r>
            <a:r>
              <a:rPr lang="en-IN" dirty="0">
                <a:latin typeface="Aptos Display" panose="020B0004020202020204" pitchFamily="34" charset="0"/>
              </a:rPr>
              <a:t>, J. T., </a:t>
            </a:r>
            <a:r>
              <a:rPr lang="en-IN" dirty="0" err="1">
                <a:latin typeface="Aptos Display" panose="020B0004020202020204" pitchFamily="34" charset="0"/>
              </a:rPr>
              <a:t>Fiederer</a:t>
            </a:r>
            <a:r>
              <a:rPr lang="en-IN" dirty="0">
                <a:latin typeface="Aptos Display" panose="020B0004020202020204" pitchFamily="34" charset="0"/>
              </a:rPr>
              <a:t>, L. D., Glasstetter, M., </a:t>
            </a:r>
            <a:r>
              <a:rPr lang="en-IN" dirty="0" err="1">
                <a:latin typeface="Aptos Display" panose="020B0004020202020204" pitchFamily="34" charset="0"/>
              </a:rPr>
              <a:t>Eggensperger</a:t>
            </a:r>
            <a:r>
              <a:rPr lang="en-IN" dirty="0">
                <a:latin typeface="Aptos Display" panose="020B0004020202020204" pitchFamily="34" charset="0"/>
              </a:rPr>
              <a:t>, K., </a:t>
            </a:r>
            <a:r>
              <a:rPr lang="en-IN" dirty="0" err="1">
                <a:latin typeface="Aptos Display" panose="020B0004020202020204" pitchFamily="34" charset="0"/>
              </a:rPr>
              <a:t>Tangermann</a:t>
            </a:r>
            <a:r>
              <a:rPr lang="en-IN" dirty="0">
                <a:latin typeface="Aptos Display" panose="020B0004020202020204" pitchFamily="34" charset="0"/>
              </a:rPr>
              <a:t>, M., et al. (2017). Deep learning with convolutional neural networks for EEG decoding and visualization.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Hsu, Y. H., Chuang, Y. Y., &amp; Huang, C. Y. (2018). </a:t>
            </a:r>
            <a:r>
              <a:rPr lang="en-IN" dirty="0" err="1">
                <a:latin typeface="Aptos Display" panose="020B0004020202020204" pitchFamily="34" charset="0"/>
              </a:rPr>
              <a:t>SCCNet</a:t>
            </a:r>
            <a:r>
              <a:rPr lang="en-IN" dirty="0">
                <a:latin typeface="Aptos Display" panose="020B0004020202020204" pitchFamily="34" charset="0"/>
              </a:rPr>
              <a:t>: Spatial Component-wise Convolutional Network for Motor-Imagery EEG Classification.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Mane, R., Chew, E., Chua, K., Ang, K. K., Robinson, N., Vinod, A. P., &amp; Guan, C. (2021). </a:t>
            </a:r>
            <a:r>
              <a:rPr lang="en-IN" dirty="0" err="1">
                <a:latin typeface="Aptos Display" panose="020B0004020202020204" pitchFamily="34" charset="0"/>
              </a:rPr>
              <a:t>FBCNet</a:t>
            </a:r>
            <a:r>
              <a:rPr lang="en-IN" dirty="0">
                <a:latin typeface="Aptos Display" panose="020B0004020202020204" pitchFamily="34" charset="0"/>
              </a:rPr>
              <a:t>: A Multi-view Convolutional Neural Network for Brain-Computer Interface.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Welch, P. (1967). The use of fast Fourier transform for the estimation of power spectra: A method based on time averaging over short, modified periodograms.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Miltiadous</a:t>
            </a:r>
            <a:r>
              <a:rPr lang="en-IN" dirty="0">
                <a:latin typeface="Aptos Display" panose="020B0004020202020204" pitchFamily="34" charset="0"/>
              </a:rPr>
              <a:t>, A., </a:t>
            </a:r>
            <a:r>
              <a:rPr lang="en-IN" dirty="0" err="1">
                <a:latin typeface="Aptos Display" panose="020B0004020202020204" pitchFamily="34" charset="0"/>
              </a:rPr>
              <a:t>Tzimourta</a:t>
            </a:r>
            <a:r>
              <a:rPr lang="en-IN" dirty="0">
                <a:latin typeface="Aptos Display" panose="020B0004020202020204" pitchFamily="34" charset="0"/>
              </a:rPr>
              <a:t>, K. D., Afrantou, T., </a:t>
            </a:r>
            <a:r>
              <a:rPr lang="en-IN" dirty="0" err="1">
                <a:latin typeface="Aptos Display" panose="020B0004020202020204" pitchFamily="34" charset="0"/>
              </a:rPr>
              <a:t>Giannakeas</a:t>
            </a:r>
            <a:r>
              <a:rPr lang="en-IN" dirty="0">
                <a:latin typeface="Aptos Display" panose="020B0004020202020204" pitchFamily="34" charset="0"/>
              </a:rPr>
              <a:t>, N., </a:t>
            </a: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</a:t>
            </a:r>
            <a:r>
              <a:rPr lang="en-IN" dirty="0" err="1">
                <a:latin typeface="Aptos Display" panose="020B0004020202020204" pitchFamily="34" charset="0"/>
              </a:rPr>
              <a:t>Tsalikakis</a:t>
            </a:r>
            <a:r>
              <a:rPr lang="en-IN" dirty="0">
                <a:latin typeface="Aptos Display" panose="020B0004020202020204" pitchFamily="34" charset="0"/>
              </a:rPr>
              <a:t>, D. (2023). A dataset of EEG recordings from Alzheimer’s disease, Frontotemporal Dementia and Healthy Subjects.</a:t>
            </a:r>
          </a:p>
        </p:txBody>
      </p:sp>
    </p:spTree>
    <p:extLst>
      <p:ext uri="{BB962C8B-B14F-4D97-AF65-F5344CB8AC3E}">
        <p14:creationId xmlns:p14="http://schemas.microsoft.com/office/powerpoint/2010/main" val="1725760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6BD9-E439-FBB4-DF9E-E994F910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10C7C6-5336-F211-88D3-B5428950B607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References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394FDB-B2C6-BC96-7D4F-1F9EFB5AC649}"/>
              </a:ext>
            </a:extLst>
          </p:cNvPr>
          <p:cNvCxnSpPr>
            <a:cxnSpLocks/>
          </p:cNvCxnSpPr>
          <p:nvPr/>
        </p:nvCxnSpPr>
        <p:spPr>
          <a:xfrm>
            <a:off x="1972019" y="1020357"/>
            <a:ext cx="97073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95350CA-D067-8FA1-6302-CE1939321010}"/>
              </a:ext>
            </a:extLst>
          </p:cNvPr>
          <p:cNvSpPr txBox="1"/>
          <p:nvPr/>
        </p:nvSpPr>
        <p:spPr>
          <a:xfrm>
            <a:off x="263234" y="1552449"/>
            <a:ext cx="11416148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Cassani, R., Estarellas, M., San-Martín, R., Fraga, F. J., &amp; Falk, T. H. (2018). Systematic review on resting-state EEG for Alzheimer’s disease diagnosis.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Tzimourta</a:t>
            </a:r>
            <a:r>
              <a:rPr lang="en-IN" dirty="0">
                <a:latin typeface="Aptos Display" panose="020B0004020202020204" pitchFamily="34" charset="0"/>
              </a:rPr>
              <a:t>, K. D., </a:t>
            </a:r>
            <a:r>
              <a:rPr lang="en-IN" dirty="0" err="1">
                <a:latin typeface="Aptos Display" panose="020B0004020202020204" pitchFamily="34" charset="0"/>
              </a:rPr>
              <a:t>Giannakeas</a:t>
            </a:r>
            <a:r>
              <a:rPr lang="en-IN" dirty="0">
                <a:latin typeface="Aptos Display" panose="020B0004020202020204" pitchFamily="34" charset="0"/>
              </a:rPr>
              <a:t>, N., </a:t>
            </a: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</a:t>
            </a:r>
            <a:r>
              <a:rPr lang="en-IN" dirty="0" err="1">
                <a:latin typeface="Aptos Display" panose="020B0004020202020204" pitchFamily="34" charset="0"/>
              </a:rPr>
              <a:t>Astrakas</a:t>
            </a:r>
            <a:r>
              <a:rPr lang="en-IN" dirty="0">
                <a:latin typeface="Aptos Display" panose="020B0004020202020204" pitchFamily="34" charset="0"/>
              </a:rPr>
              <a:t>, L. G. (2019). EEG-based detection of Alzheimer’s disease using machine learning techniques.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Fraga, F. J., Falk, T. H., Kanda, P. A. M., &amp; </a:t>
            </a:r>
            <a:r>
              <a:rPr lang="en-IN" dirty="0" err="1">
                <a:latin typeface="Aptos Display" panose="020B0004020202020204" pitchFamily="34" charset="0"/>
              </a:rPr>
              <a:t>Anghinah</a:t>
            </a:r>
            <a:r>
              <a:rPr lang="en-IN" dirty="0">
                <a:latin typeface="Aptos Display" panose="020B0004020202020204" pitchFamily="34" charset="0"/>
              </a:rPr>
              <a:t>, R. (2013). Characterizing Alzheimer’s disease severity using resting-awake EEG amplitude modulation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ptos Display" panose="020B0004020202020204" pitchFamily="34" charset="0"/>
              </a:rPr>
              <a:t>Tzallas</a:t>
            </a:r>
            <a:r>
              <a:rPr lang="en-IN" dirty="0">
                <a:latin typeface="Aptos Display" panose="020B0004020202020204" pitchFamily="34" charset="0"/>
              </a:rPr>
              <a:t>, A. T., </a:t>
            </a:r>
            <a:r>
              <a:rPr lang="en-IN" dirty="0" err="1">
                <a:latin typeface="Aptos Display" panose="020B0004020202020204" pitchFamily="34" charset="0"/>
              </a:rPr>
              <a:t>Tsipouras</a:t>
            </a:r>
            <a:r>
              <a:rPr lang="en-IN" dirty="0">
                <a:latin typeface="Aptos Display" panose="020B0004020202020204" pitchFamily="34" charset="0"/>
              </a:rPr>
              <a:t>, M. G., &amp; Fotiadis, D. I. (2009). Epileptic seizure detection in EEG signals using time-frequency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Roy, Y., Banville, H., Albuquerque, I., </a:t>
            </a:r>
            <a:r>
              <a:rPr lang="en-IN" dirty="0" err="1">
                <a:latin typeface="Aptos Display" panose="020B0004020202020204" pitchFamily="34" charset="0"/>
              </a:rPr>
              <a:t>Gramfort</a:t>
            </a:r>
            <a:r>
              <a:rPr lang="en-IN" dirty="0">
                <a:latin typeface="Aptos Display" panose="020B0004020202020204" pitchFamily="34" charset="0"/>
              </a:rPr>
              <a:t>, A., Falk, T. H., &amp; Faubert, J. (2019). Deep learning-based electroencephalography analysis: a systematic review.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ptos Display" panose="020B0004020202020204" pitchFamily="34" charset="0"/>
              </a:rPr>
              <a:t>Craik, A., He, Y., &amp; Contreras-Vidal, J. L. (2019). Deep learning for electroencephalogram classification: a review.</a:t>
            </a:r>
          </a:p>
        </p:txBody>
      </p:sp>
    </p:spTree>
    <p:extLst>
      <p:ext uri="{BB962C8B-B14F-4D97-AF65-F5344CB8AC3E}">
        <p14:creationId xmlns:p14="http://schemas.microsoft.com/office/powerpoint/2010/main" val="2070238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EC92-D71A-8C22-EFF9-B451FB9C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833D3F-0D4E-24A8-85AB-E8887498E735}"/>
              </a:ext>
            </a:extLst>
          </p:cNvPr>
          <p:cNvSpPr txBox="1"/>
          <p:nvPr/>
        </p:nvSpPr>
        <p:spPr>
          <a:xfrm>
            <a:off x="263235" y="767711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ptos Display" panose="020B0004020202020204" pitchFamily="34" charset="0"/>
              </a:rPr>
              <a:t>End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22DFC0-AD20-309B-6D86-AE69885E6C84}"/>
              </a:ext>
            </a:extLst>
          </p:cNvPr>
          <p:cNvCxnSpPr>
            <a:cxnSpLocks/>
          </p:cNvCxnSpPr>
          <p:nvPr/>
        </p:nvCxnSpPr>
        <p:spPr>
          <a:xfrm>
            <a:off x="1002535" y="1020357"/>
            <a:ext cx="1067684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15A3F0D-AAD7-DD85-D3EC-2A383E05A27C}"/>
              </a:ext>
            </a:extLst>
          </p:cNvPr>
          <p:cNvSpPr txBox="1">
            <a:spLocks/>
          </p:cNvSpPr>
          <p:nvPr/>
        </p:nvSpPr>
        <p:spPr>
          <a:xfrm>
            <a:off x="581192" y="2834640"/>
            <a:ext cx="11029616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ptos Display" panose="020B0004020202020204" pitchFamily="34" charset="0"/>
              </a:rPr>
              <a:t>Thank You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4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1278</Words>
  <Application>Microsoft Office PowerPoint</Application>
  <PresentationFormat>Widescreen</PresentationFormat>
  <Paragraphs>188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 Display</vt:lpstr>
      <vt:lpstr>Arial</vt:lpstr>
      <vt:lpstr>Calibri</vt:lpstr>
      <vt:lpstr>Calibri Light</vt:lpstr>
      <vt:lpstr>Courier New</vt:lpstr>
      <vt:lpstr>Inter</vt:lpstr>
      <vt:lpstr>Office Theme</vt:lpstr>
      <vt:lpstr>Comparative Evaluation of CNN Models for Alzheimer’s Detection using Frequency-Domain EEG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Jediael Blah</dc:creator>
  <cp:lastModifiedBy>Jediael Blah</cp:lastModifiedBy>
  <cp:revision>8</cp:revision>
  <dcterms:created xsi:type="dcterms:W3CDTF">2026-03-19T11:24:12Z</dcterms:created>
  <dcterms:modified xsi:type="dcterms:W3CDTF">2026-03-20T09:47:38Z</dcterms:modified>
</cp:coreProperties>
</file>